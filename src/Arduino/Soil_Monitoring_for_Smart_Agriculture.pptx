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h6ebe7dd7dbc56e26_27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h6ebe7dd7dbc56e26_27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h6ebe7dd7dbc56e26_27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92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924"/>
          </a:solidFill>
          <a:ln cap="flat" cmpd="sng" w="12700">
            <a:solidFill>
              <a:srgbClr val="1A39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 rot="1499878">
            <a:off x="8785999" y="-169753"/>
            <a:ext cx="3291874" cy="3291874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7925">
            <a:solidFill>
              <a:srgbClr val="96BB61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rot="1500242">
            <a:off x="9220388" y="166556"/>
            <a:ext cx="2423098" cy="2423098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5225">
            <a:solidFill>
              <a:srgbClr val="C8D7B7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040112" y="712320"/>
            <a:ext cx="201300" cy="201300"/>
          </a:xfrm>
          <a:prstGeom prst="ellipse">
            <a:avLst/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94360" y="1298448"/>
            <a:ext cx="6583680" cy="2487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Georgia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SOIL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Georgia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MONITORING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Georgia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FOR SMART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Georgia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AGRICULTURE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21792" y="4041648"/>
            <a:ext cx="6766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Sensor-based soil monitoring with real-time measurements, local classification and an offline dashboard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621792" y="4956048"/>
            <a:ext cx="5989320" cy="0"/>
          </a:xfrm>
          <a:prstGeom prst="straightConnector1">
            <a:avLst/>
          </a:prstGeom>
          <a:noFill/>
          <a:ln cap="flat" cmpd="sng" w="25400">
            <a:solidFill>
              <a:srgbClr val="96BB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621792" y="5193792"/>
            <a:ext cx="7223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Calibri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EEG 323 — Instrumentation and Measurement II  |  Group 2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21792" y="5504688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Department of Electrical and Electronics Engineering · University of Lagos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Supervisor: Dr. Olumide Akintunde Alamu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9052560" y="2926080"/>
            <a:ext cx="2468880" cy="2377440"/>
          </a:xfrm>
          <a:prstGeom prst="roundRect">
            <a:avLst>
              <a:gd fmla="val 3077" name="adj"/>
            </a:avLst>
          </a:prstGeom>
          <a:solidFill>
            <a:srgbClr val="203F29"/>
          </a:solidFill>
          <a:ln cap="flat" cmpd="sng" w="12700">
            <a:solidFill>
              <a:srgbClr val="203F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619488" y="3273552"/>
            <a:ext cx="1335024" cy="932688"/>
          </a:xfrm>
          <a:prstGeom prst="roundRect">
            <a:avLst>
              <a:gd fmla="val 5882" name="adj"/>
            </a:avLst>
          </a:prstGeom>
          <a:solidFill>
            <a:srgbClr val="2B5E2C"/>
          </a:solidFill>
          <a:ln cap="flat" cmpd="sng" w="15225">
            <a:solidFill>
              <a:srgbClr val="C8D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765792" y="3566160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ESP32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308592" y="4498848"/>
            <a:ext cx="493776" cy="49377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9308587" y="4491599"/>
            <a:ext cx="493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MOISTURE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966960" y="4498848"/>
            <a:ext cx="493776" cy="49377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9902940" y="4647065"/>
            <a:ext cx="621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TEMP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0716768" y="4498848"/>
            <a:ext cx="493776" cy="49377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10625435" y="4647065"/>
            <a:ext cx="621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511635" y="5651005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1100"/>
              <a:buFont typeface="Calibri"/>
              <a:buNone/>
            </a:pPr>
            <a:r>
              <a:rPr b="1" i="0" lang="en-US" spc="180" sz="110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SENSE  →  PROCESS  →  DISPLAY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Soil decisions are only as good as the measurements behind them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11480" y="1206170"/>
            <a:ext cx="10698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The project turns three invisible soil conditions into numbers a farmer can act 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11480" y="1993392"/>
            <a:ext cx="7818120" cy="932688"/>
          </a:xfrm>
          <a:prstGeom prst="roundRect">
            <a:avLst>
              <a:gd fmla="val 7843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40080" y="2276856"/>
            <a:ext cx="310896" cy="31089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40080" y="2295144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15568" y="2176272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Traditional judgment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111232" y="2432334"/>
            <a:ext cx="4892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Farmers may rely on soil appearance, touch and experience when measurement tools are unavailable.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11480" y="3218688"/>
            <a:ext cx="7818120" cy="932688"/>
          </a:xfrm>
          <a:prstGeom prst="roundRect">
            <a:avLst>
              <a:gd fmla="val 7843" name="adj"/>
            </a:avLst>
          </a:prstGeom>
          <a:solidFill>
            <a:srgbClr val="D7E2CD"/>
          </a:solidFill>
          <a:ln cap="flat" cmpd="sng" w="12700">
            <a:solidFill>
              <a:srgbClr val="D7E2C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40080" y="3502152"/>
            <a:ext cx="310896" cy="310896"/>
          </a:xfrm>
          <a:prstGeom prst="ellipse">
            <a:avLst/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40080" y="3520440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115568" y="3401568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Laboratory testing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111255" y="3633905"/>
            <a:ext cx="4892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Accurate testing can require money, time and access to a laboratory — unsuitable for every immediate irrigation decision.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11480" y="4443984"/>
            <a:ext cx="7818120" cy="932688"/>
          </a:xfrm>
          <a:prstGeom prst="roundRect">
            <a:avLst>
              <a:gd fmla="val 7843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40080" y="4727448"/>
            <a:ext cx="310896" cy="31089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40080" y="4745736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115568" y="4626864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Instrument access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11255" y="4956051"/>
            <a:ext cx="4892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Imported or specialised equipment can be difficult to maintain when a component fails.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586275" y="1849488"/>
            <a:ext cx="3182100" cy="3671100"/>
          </a:xfrm>
          <a:prstGeom prst="roundRect">
            <a:avLst>
              <a:gd fmla="val 2332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8942832" y="233172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900"/>
              <a:buFont typeface="Calibri"/>
              <a:buNone/>
            </a:pPr>
            <a:r>
              <a:rPr b="1" i="0" lang="en-US" spc="220" sz="90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THE DESIGN RESPONSE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8924544" y="2788920"/>
            <a:ext cx="2423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Measure locally.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Process immediately.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Explain the result.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942825" y="4251950"/>
            <a:ext cx="2469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A compact ESP32 instrument combines sensing, calibration, classification and a local user interface in one build.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942870" y="5148061"/>
            <a:ext cx="1024200" cy="310800"/>
          </a:xfrm>
          <a:prstGeom prst="roundRect">
            <a:avLst>
              <a:gd fmla="val 50000" name="adj"/>
            </a:avLst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8942882" y="5221166"/>
            <a:ext cx="1024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0093300" y="5148061"/>
            <a:ext cx="896100" cy="310800"/>
          </a:xfrm>
          <a:prstGeom prst="roundRect">
            <a:avLst>
              <a:gd fmla="val 50000" name="adj"/>
            </a:avLst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0093288" y="5221166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OFFLINE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AIM &amp; OBJECTIVES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A small instrument with a clear job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11480" y="1136369"/>
            <a:ext cx="10698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Measure soil moisture, temperature and pH, then turn readings into usable information.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20624" y="1828800"/>
            <a:ext cx="4645152" cy="3886200"/>
          </a:xfrm>
          <a:prstGeom prst="roundRect">
            <a:avLst>
              <a:gd fmla="val 1882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749808" y="213969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900"/>
              <a:buFont typeface="Calibri"/>
              <a:buNone/>
            </a:pPr>
            <a:r>
              <a:rPr b="1" i="0" lang="en-US" spc="300" sz="110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AIM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749808" y="2542032"/>
            <a:ext cx="3840480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and implement a sensor-based system that measures soil moisture, temperature and pH, and processes and displays those readings in real time to support irrigation and crop management decisions.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49808" y="448056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1120"/>
              <a:buFont typeface="Calibri"/>
              <a:buNone/>
            </a:pPr>
            <a:r>
              <a:rPr b="0" i="1" lang="en-US" sz="122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The final build is intended to be portable, maintainable and usable without engineering know-how.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376672" y="1874520"/>
            <a:ext cx="6336792" cy="914400"/>
          </a:xfrm>
          <a:prstGeom prst="roundRect">
            <a:avLst>
              <a:gd fmla="val 8000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650992" y="2148840"/>
            <a:ext cx="310896" cy="31089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650992" y="2167128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099048" y="20299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Portable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099038" y="2329175"/>
            <a:ext cx="3456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90"/>
              <a:buFont typeface="Calibri"/>
              <a:buNone/>
            </a:pPr>
            <a:r>
              <a:rPr b="0" i="0" lang="en-US" sz="119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Stable enough to carry to and from the farm.</a:t>
            </a:r>
            <a:endParaRPr b="0" i="0" sz="11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376672" y="3035808"/>
            <a:ext cx="6336792" cy="914400"/>
          </a:xfrm>
          <a:prstGeom prst="roundRect">
            <a:avLst>
              <a:gd fmla="val 8000" name="adj"/>
            </a:avLst>
          </a:prstGeom>
          <a:solidFill>
            <a:srgbClr val="D7E2CD"/>
          </a:solidFill>
          <a:ln cap="flat" cmpd="sng" w="12700">
            <a:solidFill>
              <a:srgbClr val="D7E2C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650992" y="3310128"/>
            <a:ext cx="310896" cy="310896"/>
          </a:xfrm>
          <a:prstGeom prst="ellipse">
            <a:avLst/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5650992" y="3328416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099048" y="31912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Maintainable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098976" y="3488060"/>
            <a:ext cx="3456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90"/>
              <a:buFont typeface="Calibri"/>
              <a:buNone/>
            </a:pPr>
            <a:r>
              <a:rPr b="0" i="0" lang="en-US" sz="119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Built from commonly available parts and simple interfaces.</a:t>
            </a:r>
            <a:endParaRPr b="0" i="0" sz="11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376672" y="4197096"/>
            <a:ext cx="6336792" cy="914400"/>
          </a:xfrm>
          <a:prstGeom prst="roundRect">
            <a:avLst>
              <a:gd fmla="val 8000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5650992" y="4471416"/>
            <a:ext cx="310896" cy="31089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5650992" y="4489704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099048" y="43525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Operable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098901" y="4664375"/>
            <a:ext cx="3456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90"/>
              <a:buFont typeface="Calibri"/>
              <a:buNone/>
            </a:pPr>
            <a:r>
              <a:rPr b="0" i="0" lang="en-US" sz="119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Useful without needing a laptop during normal operation.</a:t>
            </a:r>
            <a:endParaRPr b="0" i="0" sz="11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13248" y="5468112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850"/>
              <a:buFont typeface="Calibri"/>
              <a:buNone/>
            </a:pPr>
            <a:r>
              <a:rPr b="1" i="0" lang="en-US" spc="220" sz="85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SUCCESS LOOKS LIKE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406640" y="5376672"/>
            <a:ext cx="1115568" cy="310896"/>
          </a:xfrm>
          <a:prstGeom prst="roundRect">
            <a:avLst>
              <a:gd fmla="val 50000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406640" y="5445252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VALUES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705088" y="5376672"/>
            <a:ext cx="1170432" cy="310896"/>
          </a:xfrm>
          <a:prstGeom prst="roundRect">
            <a:avLst>
              <a:gd fmla="val 50000" name="adj"/>
            </a:avLst>
          </a:prstGeom>
          <a:solidFill>
            <a:srgbClr val="2B5E2C"/>
          </a:solidFill>
          <a:ln cap="flat" cmpd="sng" w="12700">
            <a:solidFill>
              <a:srgbClr val="2B5E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8705088" y="5445252"/>
            <a:ext cx="11704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CALIBRATED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0040112" y="5376672"/>
            <a:ext cx="1024128" cy="310896"/>
          </a:xfrm>
          <a:prstGeom prst="roundRect">
            <a:avLst>
              <a:gd fmla="val 50000" name="adj"/>
            </a:avLst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10040112" y="5445252"/>
            <a:ext cx="10241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MEASUREMENTS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Why measure moisture, temperature and pH?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11480" y="11887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These three measurements describe different parts of the soil environment — water availability, thermal conditions and chemical availability.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11480" y="1993392"/>
            <a:ext cx="3429000" cy="3401568"/>
          </a:xfrm>
          <a:prstGeom prst="roundRect">
            <a:avLst>
              <a:gd fmla="val 2151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85800" y="2286000"/>
            <a:ext cx="402336" cy="40233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85800" y="2398625"/>
            <a:ext cx="402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161288" y="2375765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MOISTURE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85800" y="285292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41 %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85800" y="3611880"/>
            <a:ext cx="27889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110"/>
              <a:buFont typeface="Calibri"/>
              <a:buNone/>
            </a:pPr>
            <a:r>
              <a:rPr b="0" i="0" lang="en-US" sz="111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Indicates how much water is available in the root zone and directly supports irrigation decisions.</a:t>
            </a:r>
            <a:endParaRPr b="0" i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6"/>
          <p:cNvCxnSpPr/>
          <p:nvPr/>
        </p:nvCxnSpPr>
        <p:spPr>
          <a:xfrm>
            <a:off x="685800" y="4681728"/>
            <a:ext cx="2788920" cy="0"/>
          </a:xfrm>
          <a:prstGeom prst="straightConnector1">
            <a:avLst/>
          </a:prstGeom>
          <a:noFill/>
          <a:ln cap="flat" cmpd="sng" w="15225">
            <a:solidFill>
              <a:srgbClr val="CBD6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6"/>
          <p:cNvSpPr/>
          <p:nvPr/>
        </p:nvSpPr>
        <p:spPr>
          <a:xfrm>
            <a:off x="685800" y="48280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760"/>
              <a:buFont typeface="Calibri"/>
              <a:buNone/>
            </a:pPr>
            <a:r>
              <a:rPr b="1" i="1" lang="en-US" sz="76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&lt; 30%  DRY   ·   30–70%  GOOD   ·   ≥ 70%  WET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160520" y="1993392"/>
            <a:ext cx="3429000" cy="3401568"/>
          </a:xfrm>
          <a:prstGeom prst="roundRect">
            <a:avLst>
              <a:gd fmla="val 2151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434840" y="2286000"/>
            <a:ext cx="402336" cy="40233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434840" y="2381174"/>
            <a:ext cx="402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910328" y="2375765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434840" y="285292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27.7 °C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434840" y="3611880"/>
            <a:ext cx="27889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110"/>
              <a:buFont typeface="Calibri"/>
              <a:buNone/>
            </a:pPr>
            <a:r>
              <a:rPr b="0" i="0" lang="en-US" sz="111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Tracks the thermal condition of the soil environment, which affects germination, microbial activity and nutrient availability.</a:t>
            </a:r>
            <a:endParaRPr b="0" i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4434840" y="4681728"/>
            <a:ext cx="2788920" cy="0"/>
          </a:xfrm>
          <a:prstGeom prst="straightConnector1">
            <a:avLst/>
          </a:prstGeom>
          <a:noFill/>
          <a:ln cap="flat" cmpd="sng" w="15225">
            <a:solidFill>
              <a:srgbClr val="CBD6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6"/>
          <p:cNvSpPr/>
          <p:nvPr/>
        </p:nvSpPr>
        <p:spPr>
          <a:xfrm>
            <a:off x="4434840" y="48280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760"/>
              <a:buFont typeface="Calibri"/>
              <a:buNone/>
            </a:pPr>
            <a:r>
              <a:rPr b="1" i="1" lang="en-US" sz="76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10-bit DS18B20  ·  0.25 °C RESOLUTION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909560" y="1993392"/>
            <a:ext cx="3429000" cy="3401568"/>
          </a:xfrm>
          <a:prstGeom prst="roundRect">
            <a:avLst>
              <a:gd fmla="val 2151" name="adj"/>
            </a:avLst>
          </a:prstGeom>
          <a:solidFill>
            <a:srgbClr val="EDEEE8"/>
          </a:solidFill>
          <a:ln cap="flat" cmpd="sng" w="12700">
            <a:solidFill>
              <a:srgbClr val="EDEEE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183880" y="2286000"/>
            <a:ext cx="402336" cy="402336"/>
          </a:xfrm>
          <a:prstGeom prst="ellipse">
            <a:avLst/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183880" y="2398625"/>
            <a:ext cx="402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8659368" y="2393215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183880" y="285292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9.29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183880" y="3611880"/>
            <a:ext cx="27889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110"/>
              <a:buFont typeface="Calibri"/>
              <a:buNone/>
            </a:pPr>
            <a:r>
              <a:rPr b="0" i="0" lang="en-US" sz="111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Shows the chemical condition of the soil and helps indicate whether nutrient uptake may be limited by acidity or alkalinity.</a:t>
            </a:r>
            <a:endParaRPr b="0" i="0" sz="11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6"/>
          <p:cNvCxnSpPr/>
          <p:nvPr/>
        </p:nvCxnSpPr>
        <p:spPr>
          <a:xfrm>
            <a:off x="8183880" y="4681728"/>
            <a:ext cx="2788920" cy="0"/>
          </a:xfrm>
          <a:prstGeom prst="straightConnector1">
            <a:avLst/>
          </a:prstGeom>
          <a:noFill/>
          <a:ln cap="flat" cmpd="sng" w="15225">
            <a:solidFill>
              <a:srgbClr val="CBD6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6"/>
          <p:cNvSpPr/>
          <p:nvPr/>
        </p:nvSpPr>
        <p:spPr>
          <a:xfrm>
            <a:off x="8183880" y="48280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760"/>
              <a:buFont typeface="Calibri"/>
              <a:buNone/>
            </a:pPr>
            <a:r>
              <a:rPr b="1" i="1" lang="en-US" sz="76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&lt; 6.5  ACIDIC   ·   6.5–7.5  NEUTRAL   ·   &gt; 7.5  ALKALINE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12064" y="5705856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In this project, the readings are not presented as raw numbers only — the firmware also translates them into plain-language categories.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One controller, three sensors, two user interfaces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11480" y="1188720"/>
            <a:ext cx="10698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The system is organised as a sensing layer, a processing layer and a display/network layer.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38912" y="1874520"/>
            <a:ext cx="2834640" cy="758952"/>
          </a:xfrm>
          <a:prstGeom prst="roundRect">
            <a:avLst>
              <a:gd fmla="val 9639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2" name="Google Shape;152;p7"/>
          <p:cNvSpPr/>
          <p:nvPr/>
        </p:nvSpPr>
        <p:spPr>
          <a:xfrm>
            <a:off x="658368" y="2020824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CAPACITIVE MOISTURE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58368" y="229514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880"/>
              <a:buFont typeface="Calibri"/>
              <a:buNone/>
            </a:pPr>
            <a:r>
              <a:rPr b="0" i="0" lang="en-US" sz="118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GPIO34 · analogue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7"/>
          <p:cNvCxnSpPr/>
          <p:nvPr/>
        </p:nvCxnSpPr>
        <p:spPr>
          <a:xfrm>
            <a:off x="3273552" y="2258568"/>
            <a:ext cx="676656" cy="0"/>
          </a:xfrm>
          <a:prstGeom prst="straightConnector1">
            <a:avLst/>
          </a:prstGeom>
          <a:noFill/>
          <a:ln cap="flat" cmpd="sng" w="25400">
            <a:solidFill>
              <a:srgbClr val="96BB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7"/>
          <p:cNvSpPr/>
          <p:nvPr/>
        </p:nvSpPr>
        <p:spPr>
          <a:xfrm>
            <a:off x="438912" y="2926080"/>
            <a:ext cx="2834640" cy="758952"/>
          </a:xfrm>
          <a:prstGeom prst="roundRect">
            <a:avLst>
              <a:gd fmla="val 9639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6" name="Google Shape;156;p7"/>
          <p:cNvSpPr/>
          <p:nvPr/>
        </p:nvSpPr>
        <p:spPr>
          <a:xfrm>
            <a:off x="658368" y="3072384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DS18B20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58368" y="334670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880"/>
              <a:buFont typeface="Calibri"/>
              <a:buNone/>
            </a:pPr>
            <a:r>
              <a:rPr b="0" i="0" lang="en-US" sz="118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GPIO4 · 1-Wire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7"/>
          <p:cNvCxnSpPr/>
          <p:nvPr/>
        </p:nvCxnSpPr>
        <p:spPr>
          <a:xfrm>
            <a:off x="3273552" y="3310128"/>
            <a:ext cx="676656" cy="0"/>
          </a:xfrm>
          <a:prstGeom prst="straightConnector1">
            <a:avLst/>
          </a:prstGeom>
          <a:noFill/>
          <a:ln cap="flat" cmpd="sng" w="25400">
            <a:solidFill>
              <a:srgbClr val="96BB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" name="Google Shape;159;p7"/>
          <p:cNvSpPr/>
          <p:nvPr/>
        </p:nvSpPr>
        <p:spPr>
          <a:xfrm>
            <a:off x="438912" y="3977640"/>
            <a:ext cx="2834640" cy="758952"/>
          </a:xfrm>
          <a:prstGeom prst="roundRect">
            <a:avLst>
              <a:gd fmla="val 9639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0" name="Google Shape;160;p7"/>
          <p:cNvSpPr/>
          <p:nvPr/>
        </p:nvSpPr>
        <p:spPr>
          <a:xfrm>
            <a:off x="658368" y="4123944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PH4502C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58368" y="4398264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880"/>
              <a:buFont typeface="Calibri"/>
              <a:buNone/>
            </a:pPr>
            <a:r>
              <a:rPr b="0" i="0" lang="en-US" sz="118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GPIO35 · via divider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7"/>
          <p:cNvCxnSpPr/>
          <p:nvPr/>
        </p:nvCxnSpPr>
        <p:spPr>
          <a:xfrm>
            <a:off x="3273552" y="4361688"/>
            <a:ext cx="676656" cy="0"/>
          </a:xfrm>
          <a:prstGeom prst="straightConnector1">
            <a:avLst/>
          </a:prstGeom>
          <a:noFill/>
          <a:ln cap="flat" cmpd="sng" w="25400">
            <a:solidFill>
              <a:srgbClr val="96BB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7"/>
          <p:cNvSpPr/>
          <p:nvPr/>
        </p:nvSpPr>
        <p:spPr>
          <a:xfrm>
            <a:off x="4096512" y="1828800"/>
            <a:ext cx="3840480" cy="3255264"/>
          </a:xfrm>
          <a:prstGeom prst="roundRect">
            <a:avLst>
              <a:gd fmla="val 2247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736592" y="2487168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Georg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ESP32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Georg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DEVKIT V1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44568" y="3730752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950"/>
              <a:buFont typeface="Calibri"/>
              <a:buNone/>
            </a:pPr>
            <a:r>
              <a:rPr b="1" i="0" lang="en-US" spc="120" sz="95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Acquire  •  Calibrate  •  Classify  •  Buffer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7"/>
          <p:cNvCxnSpPr/>
          <p:nvPr/>
        </p:nvCxnSpPr>
        <p:spPr>
          <a:xfrm>
            <a:off x="7946136" y="2834640"/>
            <a:ext cx="713232" cy="0"/>
          </a:xfrm>
          <a:prstGeom prst="straightConnector1">
            <a:avLst/>
          </a:prstGeom>
          <a:noFill/>
          <a:ln cap="flat" cmpd="sng" w="25400">
            <a:solidFill>
              <a:srgbClr val="96BB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" name="Google Shape;167;p7"/>
          <p:cNvSpPr/>
          <p:nvPr/>
        </p:nvSpPr>
        <p:spPr>
          <a:xfrm>
            <a:off x="8686800" y="1874520"/>
            <a:ext cx="2971800" cy="1216152"/>
          </a:xfrm>
          <a:prstGeom prst="roundRect">
            <a:avLst>
              <a:gd fmla="val 6015" name="adj"/>
            </a:avLst>
          </a:prstGeom>
          <a:solidFill>
            <a:srgbClr val="D7E2CD"/>
          </a:solidFill>
          <a:ln cap="flat" cmpd="sng" w="12700">
            <a:solidFill>
              <a:srgbClr val="D7E2C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8" name="Google Shape;168;p7"/>
          <p:cNvSpPr/>
          <p:nvPr/>
        </p:nvSpPr>
        <p:spPr>
          <a:xfrm>
            <a:off x="8979408" y="213969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SH1106 OLED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8979408" y="2468880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1.3″ local display over shared I²C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686800" y="3383280"/>
            <a:ext cx="2971800" cy="1216152"/>
          </a:xfrm>
          <a:prstGeom prst="roundRect">
            <a:avLst>
              <a:gd fmla="val 6015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1" name="Google Shape;171;p7"/>
          <p:cNvSpPr/>
          <p:nvPr/>
        </p:nvSpPr>
        <p:spPr>
          <a:xfrm>
            <a:off x="8979408" y="3657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WI-FI SOFT 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979408" y="398678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Captive-portal dashboard · multi-device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38912" y="5266944"/>
            <a:ext cx="11201400" cy="640080"/>
          </a:xfrm>
          <a:prstGeom prst="roundRect">
            <a:avLst>
              <a:gd fmla="val 11429" name="adj"/>
            </a:avLst>
          </a:prstGeom>
          <a:solidFill>
            <a:srgbClr val="D7E2CD"/>
          </a:solidFill>
          <a:ln cap="flat" cmpd="sng" w="12700">
            <a:solidFill>
              <a:srgbClr val="D7E2C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4" name="Google Shape;174;p7"/>
          <p:cNvSpPr/>
          <p:nvPr/>
        </p:nvSpPr>
        <p:spPr>
          <a:xfrm>
            <a:off x="713232" y="546811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850"/>
              <a:buFont typeface="Calibri"/>
              <a:buNone/>
            </a:pPr>
            <a:r>
              <a:rPr b="1" i="0" lang="en-US" spc="230" sz="105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POWER STAGE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938528" y="544068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20"/>
              <a:buFont typeface="Calibri"/>
              <a:buNone/>
            </a:pPr>
            <a:r>
              <a:rPr b="1" lang="en-US" sz="1220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ASM1117</a:t>
            </a:r>
            <a:r>
              <a:rPr b="1" i="0" lang="en-US" sz="122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 → dedicated 5 V rail for pH front-end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532120" y="544068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100 µF + 100 nF decoupling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394192" y="544068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20"/>
              <a:buFont typeface="Calibri"/>
              <a:buNone/>
            </a:pPr>
            <a:r>
              <a:rPr b="0" i="0" lang="en-US" sz="122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ESP32 logic rail: 3.3 V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HARDWARE BUILD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The build is modular: each part has one job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11480" y="11887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Keeping sensing, conditioning and display roles separate makes the system easier to debug and maintain.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38912" y="1847088"/>
            <a:ext cx="6812280" cy="530352"/>
          </a:xfrm>
          <a:prstGeom prst="roundRect">
            <a:avLst>
              <a:gd fmla="val 13793" name="adj"/>
            </a:avLst>
          </a:prstGeom>
          <a:solidFill>
            <a:srgbClr val="D7E2CD"/>
          </a:solidFill>
          <a:ln cap="flat" cmpd="sng" w="12700">
            <a:solidFill>
              <a:srgbClr val="D7E2C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0" name="Google Shape;190;p8"/>
          <p:cNvSpPr/>
          <p:nvPr/>
        </p:nvSpPr>
        <p:spPr>
          <a:xfrm>
            <a:off x="603504" y="1956816"/>
            <a:ext cx="713232" cy="310896"/>
          </a:xfrm>
          <a:prstGeom prst="roundRect">
            <a:avLst>
              <a:gd fmla="val 50000" name="adj"/>
            </a:avLst>
          </a:prstGeom>
          <a:solidFill>
            <a:srgbClr val="2B5E2C"/>
          </a:solidFill>
          <a:ln cap="flat" cmpd="sng" w="12700">
            <a:solidFill>
              <a:srgbClr val="2B5E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1" name="Google Shape;191;p8"/>
          <p:cNvSpPr/>
          <p:nvPr/>
        </p:nvSpPr>
        <p:spPr>
          <a:xfrm>
            <a:off x="603504" y="202539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517904" y="195681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80"/>
              <a:buFont typeface="Calibri"/>
              <a:buNone/>
            </a:pPr>
            <a:r>
              <a:rPr b="1" i="0" lang="en-US" sz="138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Capacitive moisture v1.2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517910" y="2103129"/>
            <a:ext cx="3136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10"/>
              <a:buFont typeface="Calibri"/>
              <a:buNone/>
            </a:pPr>
            <a:r>
              <a:rPr b="0" i="0" lang="en-US" sz="121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Analogue soil-water proxy · GPIO34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38912" y="2532888"/>
            <a:ext cx="6812280" cy="530352"/>
          </a:xfrm>
          <a:prstGeom prst="roundRect">
            <a:avLst>
              <a:gd fmla="val 13793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5" name="Google Shape;195;p8"/>
          <p:cNvSpPr/>
          <p:nvPr/>
        </p:nvSpPr>
        <p:spPr>
          <a:xfrm>
            <a:off x="603504" y="2642616"/>
            <a:ext cx="713232" cy="310896"/>
          </a:xfrm>
          <a:prstGeom prst="roundRect">
            <a:avLst>
              <a:gd fmla="val 50000" name="adj"/>
            </a:avLst>
          </a:prstGeom>
          <a:solidFill>
            <a:srgbClr val="2B5E2C"/>
          </a:solidFill>
          <a:ln cap="flat" cmpd="sng" w="12700">
            <a:solidFill>
              <a:srgbClr val="2B5E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6" name="Google Shape;196;p8"/>
          <p:cNvSpPr/>
          <p:nvPr/>
        </p:nvSpPr>
        <p:spPr>
          <a:xfrm>
            <a:off x="603504" y="271119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517904" y="264261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80"/>
              <a:buFont typeface="Calibri"/>
              <a:buNone/>
            </a:pPr>
            <a:r>
              <a:rPr b="1" i="0" lang="en-US" sz="138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DS18B20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517960" y="2788929"/>
            <a:ext cx="3136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10"/>
              <a:buFont typeface="Calibri"/>
              <a:buNone/>
            </a:pPr>
            <a:r>
              <a:rPr b="0" i="0" lang="en-US" sz="121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Digital temperature · GPIO4 · 4.7 kΩ pull-up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38912" y="3218688"/>
            <a:ext cx="6812280" cy="530352"/>
          </a:xfrm>
          <a:prstGeom prst="roundRect">
            <a:avLst>
              <a:gd fmla="val 13793" name="adj"/>
            </a:avLst>
          </a:prstGeom>
          <a:solidFill>
            <a:srgbClr val="D7E2CD"/>
          </a:solidFill>
          <a:ln cap="flat" cmpd="sng" w="12700">
            <a:solidFill>
              <a:srgbClr val="D7E2C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0" name="Google Shape;200;p8"/>
          <p:cNvSpPr/>
          <p:nvPr/>
        </p:nvSpPr>
        <p:spPr>
          <a:xfrm>
            <a:off x="603504" y="3328416"/>
            <a:ext cx="713232" cy="310896"/>
          </a:xfrm>
          <a:prstGeom prst="roundRect">
            <a:avLst>
              <a:gd fmla="val 50000" name="adj"/>
            </a:avLst>
          </a:prstGeom>
          <a:solidFill>
            <a:srgbClr val="2B5E2C"/>
          </a:solidFill>
          <a:ln cap="flat" cmpd="sng" w="12700">
            <a:solidFill>
              <a:srgbClr val="2B5E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1" name="Google Shape;201;p8"/>
          <p:cNvSpPr/>
          <p:nvPr/>
        </p:nvSpPr>
        <p:spPr>
          <a:xfrm>
            <a:off x="603504" y="339699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517904" y="332841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80"/>
              <a:buFont typeface="Calibri"/>
              <a:buNone/>
            </a:pPr>
            <a:r>
              <a:rPr b="1" i="0" lang="en-US" sz="138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PH4502C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517910" y="3474716"/>
            <a:ext cx="3136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10"/>
              <a:buFont typeface="Calibri"/>
              <a:buNone/>
            </a:pPr>
            <a:r>
              <a:rPr b="0" i="0" lang="en-US" sz="121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Conditions the pH electrode signal · 0–5 V stage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38912" y="3904488"/>
            <a:ext cx="6812280" cy="530352"/>
          </a:xfrm>
          <a:prstGeom prst="roundRect">
            <a:avLst>
              <a:gd fmla="val 13793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5" name="Google Shape;205;p8"/>
          <p:cNvSpPr/>
          <p:nvPr/>
        </p:nvSpPr>
        <p:spPr>
          <a:xfrm>
            <a:off x="603504" y="4014216"/>
            <a:ext cx="713232" cy="310896"/>
          </a:xfrm>
          <a:prstGeom prst="roundRect">
            <a:avLst>
              <a:gd fmla="val 50000" name="adj"/>
            </a:avLst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6" name="Google Shape;206;p8"/>
          <p:cNvSpPr/>
          <p:nvPr/>
        </p:nvSpPr>
        <p:spPr>
          <a:xfrm>
            <a:off x="603504" y="408279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517904" y="401421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80"/>
              <a:buFont typeface="Calibri"/>
              <a:buNone/>
            </a:pPr>
            <a:r>
              <a:rPr b="1" i="0" lang="en-US" sz="138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10 kΩ / 20 kΩ divider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517910" y="4187366"/>
            <a:ext cx="3136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10"/>
              <a:buFont typeface="Calibri"/>
              <a:buNone/>
            </a:pPr>
            <a:r>
              <a:rPr b="0" i="0" lang="en-US" sz="121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Scales pH output before GPIO35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38912" y="4590288"/>
            <a:ext cx="6812280" cy="530352"/>
          </a:xfrm>
          <a:prstGeom prst="roundRect">
            <a:avLst>
              <a:gd fmla="val 13793" name="adj"/>
            </a:avLst>
          </a:prstGeom>
          <a:solidFill>
            <a:srgbClr val="D7E2CD"/>
          </a:solidFill>
          <a:ln cap="flat" cmpd="sng" w="12700">
            <a:solidFill>
              <a:srgbClr val="D7E2C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10" name="Google Shape;210;p8"/>
          <p:cNvSpPr/>
          <p:nvPr/>
        </p:nvSpPr>
        <p:spPr>
          <a:xfrm>
            <a:off x="603504" y="4700016"/>
            <a:ext cx="713232" cy="310896"/>
          </a:xfrm>
          <a:prstGeom prst="roundRect">
            <a:avLst>
              <a:gd fmla="val 50000" name="adj"/>
            </a:avLst>
          </a:prstGeom>
          <a:solidFill>
            <a:srgbClr val="2B5E2C"/>
          </a:solidFill>
          <a:ln cap="flat" cmpd="sng" w="12700">
            <a:solidFill>
              <a:srgbClr val="2B5E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11" name="Google Shape;211;p8"/>
          <p:cNvSpPr/>
          <p:nvPr/>
        </p:nvSpPr>
        <p:spPr>
          <a:xfrm>
            <a:off x="603504" y="476859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517904" y="470001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80"/>
              <a:buFont typeface="Calibri"/>
              <a:buNone/>
            </a:pPr>
            <a:r>
              <a:rPr b="1" i="0" lang="en-US" sz="138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SH1106 1.3″ OLED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517960" y="4898641"/>
            <a:ext cx="3136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10"/>
              <a:buFont typeface="Calibri"/>
              <a:buNone/>
            </a:pPr>
            <a:r>
              <a:rPr b="0" i="0" lang="en-US" sz="121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Shared I²C local display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38912" y="5276088"/>
            <a:ext cx="6812280" cy="530352"/>
          </a:xfrm>
          <a:prstGeom prst="roundRect">
            <a:avLst>
              <a:gd fmla="val 13793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15" name="Google Shape;215;p8"/>
          <p:cNvSpPr/>
          <p:nvPr/>
        </p:nvSpPr>
        <p:spPr>
          <a:xfrm>
            <a:off x="603504" y="5385816"/>
            <a:ext cx="713232" cy="310896"/>
          </a:xfrm>
          <a:prstGeom prst="roundRect">
            <a:avLst>
              <a:gd fmla="val 50000" name="adj"/>
            </a:avLst>
          </a:prstGeom>
          <a:solidFill>
            <a:srgbClr val="2B5E2C"/>
          </a:solidFill>
          <a:ln cap="flat" cmpd="sng" w="12700">
            <a:solidFill>
              <a:srgbClr val="2B5E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16" name="Google Shape;216;p8"/>
          <p:cNvSpPr/>
          <p:nvPr/>
        </p:nvSpPr>
        <p:spPr>
          <a:xfrm>
            <a:off x="603504" y="545439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517904" y="538581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80"/>
              <a:buFont typeface="Calibri"/>
              <a:buNone/>
            </a:pPr>
            <a:r>
              <a:rPr b="1" i="0" lang="en-US" sz="138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LM2596 + capacitors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517960" y="5571741"/>
            <a:ext cx="3136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10"/>
              <a:buFont typeface="Calibri"/>
              <a:buNone/>
            </a:pPr>
            <a:r>
              <a:rPr b="0" i="0" lang="en-US" sz="121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Dedicated 5 V rail + transient buffering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516368" y="1847088"/>
            <a:ext cx="4142232" cy="3346704"/>
          </a:xfrm>
          <a:prstGeom prst="roundRect">
            <a:avLst>
              <a:gd fmla="val 218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xtracted_assets/slide8_img1.jpg"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7536" y="2146604"/>
            <a:ext cx="3739896" cy="2436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/>
          <p:nvPr/>
        </p:nvSpPr>
        <p:spPr>
          <a:xfrm>
            <a:off x="7790688" y="4837176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839"/>
              <a:buFont typeface="Calibri"/>
              <a:buNone/>
            </a:pPr>
            <a:r>
              <a:rPr b="0" i="1" lang="en-US" sz="84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Reference circuit diagram from the original build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717536" y="5458968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850"/>
              <a:buFont typeface="Calibri"/>
              <a:buNone/>
            </a:pPr>
            <a:r>
              <a:rPr b="1" i="0" lang="en-US" spc="220" sz="85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BUILD PRINCIPLE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717536" y="5678424"/>
            <a:ext cx="3474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10"/>
              <a:buFont typeface="Calibri"/>
              <a:buNone/>
            </a:pPr>
            <a:r>
              <a:rPr b="0" i="0" lang="en-US" sz="101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Sensors produce signals; the controller never has to “guess” what a pin is supposed to mean.</a:t>
            </a:r>
            <a:endParaRPr b="0" i="0" sz="10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SIGNAL &amp; POWER INTEGRITY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The final build depends on clean signal paths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11480" y="11887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Most of the engineering detail sits between the sensor output and the ESP32 ADC.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38912" y="1828800"/>
            <a:ext cx="6839712" cy="4096512"/>
          </a:xfrm>
          <a:prstGeom prst="roundRect">
            <a:avLst>
              <a:gd fmla="val 1786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6" name="Google Shape;236;p9"/>
          <p:cNvSpPr/>
          <p:nvPr/>
        </p:nvSpPr>
        <p:spPr>
          <a:xfrm>
            <a:off x="749808" y="21214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900"/>
              <a:buFont typeface="Calibri"/>
              <a:buNone/>
            </a:pPr>
            <a:r>
              <a:rPr b="1" i="0" lang="en-US" spc="240" sz="90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pH SIGNAL PATH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49808" y="2660904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PH4502C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9"/>
          <p:cNvCxnSpPr/>
          <p:nvPr/>
        </p:nvCxnSpPr>
        <p:spPr>
          <a:xfrm>
            <a:off x="2057400" y="2834640"/>
            <a:ext cx="566928" cy="0"/>
          </a:xfrm>
          <a:prstGeom prst="straightConnector1">
            <a:avLst/>
          </a:prstGeom>
          <a:noFill/>
          <a:ln cap="flat" cmpd="sng" w="25400">
            <a:solidFill>
              <a:srgbClr val="96BB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" name="Google Shape;239;p9"/>
          <p:cNvSpPr/>
          <p:nvPr/>
        </p:nvSpPr>
        <p:spPr>
          <a:xfrm>
            <a:off x="2679192" y="2395728"/>
            <a:ext cx="1417320" cy="868680"/>
          </a:xfrm>
          <a:prstGeom prst="roundRect">
            <a:avLst>
              <a:gd fmla="val 5263" name="adj"/>
            </a:avLst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2788920" y="256032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kΩ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kΩ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9"/>
          <p:cNvCxnSpPr/>
          <p:nvPr/>
        </p:nvCxnSpPr>
        <p:spPr>
          <a:xfrm>
            <a:off x="4160520" y="2834640"/>
            <a:ext cx="658368" cy="0"/>
          </a:xfrm>
          <a:prstGeom prst="straightConnector1">
            <a:avLst/>
          </a:prstGeom>
          <a:noFill/>
          <a:ln cap="flat" cmpd="sng" w="25400">
            <a:solidFill>
              <a:srgbClr val="96BB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" name="Google Shape;242;p9"/>
          <p:cNvSpPr/>
          <p:nvPr/>
        </p:nvSpPr>
        <p:spPr>
          <a:xfrm>
            <a:off x="4910328" y="2395728"/>
            <a:ext cx="1517904" cy="868680"/>
          </a:xfrm>
          <a:prstGeom prst="roundRect">
            <a:avLst>
              <a:gd fmla="val 5263" name="adj"/>
            </a:avLst>
          </a:prstGeom>
          <a:solidFill>
            <a:srgbClr val="2B5E2C"/>
          </a:solidFill>
          <a:ln cap="flat" cmpd="sng" w="12700">
            <a:solidFill>
              <a:srgbClr val="C8D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5074920" y="256032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GPIO35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749808" y="3703320"/>
            <a:ext cx="565099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1160"/>
              <a:buFont typeface="Calibri"/>
              <a:buNone/>
            </a:pPr>
            <a:r>
              <a:rPr b="0" i="0" lang="en-US" sz="136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The divider scales the 0–5 V conditioned signal to an ESP32-safe range near 0–3.3 V while preserving the linear relationship used for calibration.</a:t>
            </a:r>
            <a:endParaRPr b="0" i="0" sz="1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749808" y="4736592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830"/>
              <a:buFont typeface="Calibri"/>
              <a:buNone/>
            </a:pPr>
            <a:r>
              <a:rPr b="1" i="0" lang="en-US" spc="180" sz="103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OTHER PROTECTION / STABILITY DETAILS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49808" y="51206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4.7 kΩ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49808" y="54406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880"/>
              <a:buFont typeface="Calibri"/>
              <a:buNone/>
            </a:pPr>
            <a:r>
              <a:rPr b="0" i="0" lang="en-US" sz="108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DS18B20 1-Wire pull-up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2596896" y="51206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100 µF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2596896" y="54406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880"/>
              <a:buFont typeface="Calibri"/>
              <a:buNone/>
            </a:pPr>
            <a:r>
              <a:rPr b="0" i="0" lang="en-US" sz="108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Rail reservoir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443984" y="51206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100 nF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443984" y="54406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880"/>
              <a:buFont typeface="Calibri"/>
              <a:buNone/>
            </a:pPr>
            <a:r>
              <a:rPr b="0" i="0" lang="en-US" sz="108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High-frequency decoupling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7552944" y="1828800"/>
            <a:ext cx="4114800" cy="4096512"/>
          </a:xfrm>
          <a:prstGeom prst="roundRect">
            <a:avLst>
              <a:gd fmla="val 1786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3" name="Google Shape;253;p9"/>
          <p:cNvSpPr/>
          <p:nvPr/>
        </p:nvSpPr>
        <p:spPr>
          <a:xfrm>
            <a:off x="7882128" y="2139696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0" lang="en-US" spc="230" sz="11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FINAL WIRING CHECK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7882128" y="2688336"/>
            <a:ext cx="228600" cy="228600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5" name="Google Shape;255;p9"/>
          <p:cNvSpPr/>
          <p:nvPr/>
        </p:nvSpPr>
        <p:spPr>
          <a:xfrm>
            <a:off x="7882128" y="2728646"/>
            <a:ext cx="228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247888" y="2670048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Moisture → GPIO34 analogue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7882128" y="3145536"/>
            <a:ext cx="228600" cy="228600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8" name="Google Shape;258;p9"/>
          <p:cNvSpPr/>
          <p:nvPr/>
        </p:nvSpPr>
        <p:spPr>
          <a:xfrm>
            <a:off x="7882128" y="3185846"/>
            <a:ext cx="228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8247888" y="3127248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DS18B20 DATA → GPIO4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7882128" y="3602736"/>
            <a:ext cx="228600" cy="228600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1" name="Google Shape;261;p9"/>
          <p:cNvSpPr/>
          <p:nvPr/>
        </p:nvSpPr>
        <p:spPr>
          <a:xfrm>
            <a:off x="7882128" y="3643046"/>
            <a:ext cx="228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247888" y="3584448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pH → divider → GPIO35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882128" y="4059936"/>
            <a:ext cx="228600" cy="228600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4" name="Google Shape;264;p9"/>
          <p:cNvSpPr/>
          <p:nvPr/>
        </p:nvSpPr>
        <p:spPr>
          <a:xfrm>
            <a:off x="7882128" y="4082796"/>
            <a:ext cx="228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8247888" y="4041648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OLED uses shared I²C lines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7882128" y="4517136"/>
            <a:ext cx="228600" cy="228600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7" name="Google Shape;267;p9"/>
          <p:cNvSpPr/>
          <p:nvPr/>
        </p:nvSpPr>
        <p:spPr>
          <a:xfrm>
            <a:off x="7882128" y="4539996"/>
            <a:ext cx="228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8247888" y="4498848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pH front-end gets dedicated 5 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7882128" y="4974336"/>
            <a:ext cx="228600" cy="228600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70" name="Google Shape;270;p9"/>
          <p:cNvSpPr/>
          <p:nvPr/>
        </p:nvSpPr>
        <p:spPr>
          <a:xfrm>
            <a:off x="7882128" y="5014646"/>
            <a:ext cx="228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8247888" y="4956048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ESP32 logic remains at 3.3 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7882128" y="5468112"/>
            <a:ext cx="3172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80"/>
              <a:buFont typeface="Calibri"/>
              <a:buNone/>
            </a:pPr>
            <a:r>
              <a:rPr b="0" i="1" lang="en-US" sz="118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This separation is what stopped Wi-Fi activity from disturbing the analogue pH measurement.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FIRMWARE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Firmware turns raw signals into readable soil status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11480" y="1188720"/>
            <a:ext cx="10698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The main loop runs once per second while calibration, averaging and history buffers make the output more useful than a raw ADC value.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02336" y="1901952"/>
            <a:ext cx="2075688" cy="1069848"/>
          </a:xfrm>
          <a:prstGeom prst="roundRect">
            <a:avLst>
              <a:gd fmla="val 6838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85" name="Google Shape;285;p10"/>
          <p:cNvSpPr/>
          <p:nvPr/>
        </p:nvSpPr>
        <p:spPr>
          <a:xfrm>
            <a:off x="585216" y="2093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C77819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987552" y="207568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900"/>
              <a:buFont typeface="Calibri"/>
              <a:buNone/>
            </a:pPr>
            <a:r>
              <a:rPr b="1" i="0" lang="en-US" spc="120" sz="11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ACQUIRE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953416" y="2504693"/>
            <a:ext cx="170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Sensors → raw values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10"/>
          <p:cNvCxnSpPr/>
          <p:nvPr/>
        </p:nvCxnSpPr>
        <p:spPr>
          <a:xfrm>
            <a:off x="2487168" y="2423160"/>
            <a:ext cx="246888" cy="0"/>
          </a:xfrm>
          <a:prstGeom prst="straightConnector1">
            <a:avLst/>
          </a:prstGeom>
          <a:noFill/>
          <a:ln cap="flat" cmpd="sng" w="25400">
            <a:solidFill>
              <a:srgbClr val="96BB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9" name="Google Shape;289;p10"/>
          <p:cNvSpPr/>
          <p:nvPr/>
        </p:nvSpPr>
        <p:spPr>
          <a:xfrm>
            <a:off x="2734056" y="1901952"/>
            <a:ext cx="2075688" cy="1069848"/>
          </a:xfrm>
          <a:prstGeom prst="roundRect">
            <a:avLst>
              <a:gd fmla="val 6838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90" name="Google Shape;290;p10"/>
          <p:cNvSpPr/>
          <p:nvPr/>
        </p:nvSpPr>
        <p:spPr>
          <a:xfrm>
            <a:off x="2916936" y="2093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C77819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3319272" y="207568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900"/>
              <a:buFont typeface="Calibri"/>
              <a:buNone/>
            </a:pPr>
            <a:r>
              <a:rPr b="1" i="0" lang="en-US" spc="120" sz="11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CALIBRATE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3285236" y="2468880"/>
            <a:ext cx="170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Raw ADC → engineering </a:t>
            </a:r>
            <a:endParaRPr b="0" i="0" sz="1120" u="none" cap="none" strike="noStrike">
              <a:solidFill>
                <a:srgbClr val="5B66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units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10"/>
          <p:cNvCxnSpPr/>
          <p:nvPr/>
        </p:nvCxnSpPr>
        <p:spPr>
          <a:xfrm>
            <a:off x="4818888" y="2423160"/>
            <a:ext cx="246888" cy="0"/>
          </a:xfrm>
          <a:prstGeom prst="straightConnector1">
            <a:avLst/>
          </a:prstGeom>
          <a:noFill/>
          <a:ln cap="flat" cmpd="sng" w="25400">
            <a:solidFill>
              <a:srgbClr val="96BB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10"/>
          <p:cNvSpPr/>
          <p:nvPr/>
        </p:nvSpPr>
        <p:spPr>
          <a:xfrm>
            <a:off x="5065776" y="1901952"/>
            <a:ext cx="2075688" cy="1069848"/>
          </a:xfrm>
          <a:prstGeom prst="roundRect">
            <a:avLst>
              <a:gd fmla="val 6838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95" name="Google Shape;295;p10"/>
          <p:cNvSpPr/>
          <p:nvPr/>
        </p:nvSpPr>
        <p:spPr>
          <a:xfrm>
            <a:off x="5248656" y="2093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96BB6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650992" y="207568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pc="12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642356" y="2468880"/>
            <a:ext cx="170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Moisture / pH → plain</a:t>
            </a:r>
            <a:endParaRPr sz="1120">
              <a:solidFill>
                <a:srgbClr val="C8D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0"/>
          <p:cNvCxnSpPr/>
          <p:nvPr/>
        </p:nvCxnSpPr>
        <p:spPr>
          <a:xfrm>
            <a:off x="7150608" y="2423160"/>
            <a:ext cx="246888" cy="0"/>
          </a:xfrm>
          <a:prstGeom prst="straightConnector1">
            <a:avLst/>
          </a:prstGeom>
          <a:noFill/>
          <a:ln cap="flat" cmpd="sng" w="25400">
            <a:solidFill>
              <a:srgbClr val="96BB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10"/>
          <p:cNvSpPr/>
          <p:nvPr/>
        </p:nvSpPr>
        <p:spPr>
          <a:xfrm>
            <a:off x="7397496" y="1901952"/>
            <a:ext cx="2075688" cy="1069848"/>
          </a:xfrm>
          <a:prstGeom prst="roundRect">
            <a:avLst>
              <a:gd fmla="val 6838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00" name="Google Shape;300;p10"/>
          <p:cNvSpPr/>
          <p:nvPr/>
        </p:nvSpPr>
        <p:spPr>
          <a:xfrm>
            <a:off x="7580376" y="2093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C77819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7982712" y="207568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900"/>
              <a:buFont typeface="Calibri"/>
              <a:buNone/>
            </a:pPr>
            <a:r>
              <a:rPr b="1" i="0" lang="en-US" spc="120" sz="11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7975601" y="2464318"/>
            <a:ext cx="170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5 seconds + 1 hour history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10"/>
          <p:cNvCxnSpPr/>
          <p:nvPr/>
        </p:nvCxnSpPr>
        <p:spPr>
          <a:xfrm>
            <a:off x="9482328" y="2423160"/>
            <a:ext cx="246888" cy="0"/>
          </a:xfrm>
          <a:prstGeom prst="straightConnector1">
            <a:avLst/>
          </a:prstGeom>
          <a:noFill/>
          <a:ln cap="flat" cmpd="sng" w="25400">
            <a:solidFill>
              <a:srgbClr val="96BB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4" name="Google Shape;304;p10"/>
          <p:cNvSpPr/>
          <p:nvPr/>
        </p:nvSpPr>
        <p:spPr>
          <a:xfrm>
            <a:off x="9729216" y="1901952"/>
            <a:ext cx="2075688" cy="1069848"/>
          </a:xfrm>
          <a:prstGeom prst="roundRect">
            <a:avLst>
              <a:gd fmla="val 6838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05" name="Google Shape;305;p10"/>
          <p:cNvSpPr/>
          <p:nvPr/>
        </p:nvSpPr>
        <p:spPr>
          <a:xfrm>
            <a:off x="9912096" y="2093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1600"/>
              <a:buFont typeface="Georgia"/>
              <a:buNone/>
            </a:pPr>
            <a:r>
              <a:rPr b="1" i="0" lang="en-US" sz="1800" u="none" cap="none" strike="noStrike">
                <a:solidFill>
                  <a:srgbClr val="C77819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10314432" y="207568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900"/>
              <a:buFont typeface="Calibri"/>
              <a:buNone/>
            </a:pPr>
            <a:r>
              <a:rPr b="1" i="0" lang="en-US" spc="120" sz="11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10331196" y="2468880"/>
            <a:ext cx="170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OLED + local dashboard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381925" y="3300975"/>
            <a:ext cx="5627400" cy="2679900"/>
          </a:xfrm>
          <a:prstGeom prst="roundRect">
            <a:avLst>
              <a:gd fmla="val 3137" name="adj"/>
            </a:avLst>
          </a:prstGeom>
          <a:solidFill>
            <a:srgbClr val="D7E2CD"/>
          </a:solidFill>
          <a:ln cap="flat" cmpd="sng" w="12700">
            <a:solidFill>
              <a:srgbClr val="D7E2C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09" name="Google Shape;309;p10"/>
          <p:cNvSpPr/>
          <p:nvPr/>
        </p:nvSpPr>
        <p:spPr>
          <a:xfrm>
            <a:off x="694944" y="3601156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0" lang="en-US" spc="21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MAIN LOOP · ~1 SECOND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694944" y="4041648"/>
            <a:ext cx="310896" cy="31089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11" name="Google Shape;311;p10"/>
          <p:cNvSpPr/>
          <p:nvPr/>
        </p:nvSpPr>
        <p:spPr>
          <a:xfrm>
            <a:off x="694944" y="4059936"/>
            <a:ext cx="31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5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1115431" y="4080511"/>
            <a:ext cx="416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Read DS18B20 temperature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694944" y="4413506"/>
            <a:ext cx="310800" cy="310800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14" name="Google Shape;314;p10"/>
          <p:cNvSpPr/>
          <p:nvPr/>
        </p:nvSpPr>
        <p:spPr>
          <a:xfrm>
            <a:off x="694794" y="4444007"/>
            <a:ext cx="31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5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1115568" y="4458731"/>
            <a:ext cx="416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Read moisture ADC → percentage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694844" y="4791489"/>
            <a:ext cx="310800" cy="310800"/>
          </a:xfrm>
          <a:prstGeom prst="ellipse">
            <a:avLst/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17" name="Google Shape;317;p10"/>
          <p:cNvSpPr/>
          <p:nvPr/>
        </p:nvSpPr>
        <p:spPr>
          <a:xfrm>
            <a:off x="694844" y="4810752"/>
            <a:ext cx="31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1115568" y="4804927"/>
            <a:ext cx="416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Read pH from 20 averaged samples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694844" y="5168372"/>
            <a:ext cx="310800" cy="310800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20" name="Google Shape;320;p10"/>
          <p:cNvSpPr/>
          <p:nvPr/>
        </p:nvSpPr>
        <p:spPr>
          <a:xfrm>
            <a:off x="694944" y="5186685"/>
            <a:ext cx="31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5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1115506" y="5212072"/>
            <a:ext cx="416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Update OLED and dashboard variables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694894" y="5504705"/>
            <a:ext cx="310800" cy="310800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23" name="Google Shape;323;p10"/>
          <p:cNvSpPr/>
          <p:nvPr/>
        </p:nvSpPr>
        <p:spPr>
          <a:xfrm>
            <a:off x="694944" y="5541243"/>
            <a:ext cx="31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5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1115568" y="5542805"/>
            <a:ext cx="416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Log to the 5-second and 1-hour buffers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6199632" y="3355848"/>
            <a:ext cx="5504688" cy="2331720"/>
          </a:xfrm>
          <a:prstGeom prst="roundRect">
            <a:avLst>
              <a:gd fmla="val 3137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26" name="Google Shape;326;p10"/>
          <p:cNvSpPr/>
          <p:nvPr/>
        </p:nvSpPr>
        <p:spPr>
          <a:xfrm>
            <a:off x="6492240" y="3630168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900"/>
              <a:buFont typeface="Calibri"/>
              <a:buNone/>
            </a:pPr>
            <a:r>
              <a:rPr b="1" i="0" lang="en-US" spc="210" sz="110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CALIBRATION FORMULAS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492240" y="4041648"/>
            <a:ext cx="47365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0"/>
              <a:buFont typeface="Courier New"/>
              <a:buNone/>
            </a:pPr>
            <a:r>
              <a:rPr b="1" i="0" lang="en-US" sz="13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Moisture % = (ADCraw − ADCair) ÷ (ADCwater − ADCair) × 100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492240" y="4700016"/>
            <a:ext cx="47365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pH = 7.0 − (ADCraw − ADCpH7) × 4.5 ÷ (ADCpH2.5 − ADCpH7)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492240" y="5303520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880"/>
              <a:buFont typeface="Calibri"/>
              <a:buNone/>
            </a:pPr>
            <a:r>
              <a:rPr b="0" i="1" lang="en-US" sz="108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The calibration points are measured on the actual sensors used in the build.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The system works without a PC or router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11480" y="11887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A local OLED gives immediate feedback; the ESP32 soft AP provides a browser dashboard to phones and laptops.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38912" y="1828800"/>
            <a:ext cx="3858768" cy="3977640"/>
          </a:xfrm>
          <a:prstGeom prst="roundRect">
            <a:avLst>
              <a:gd fmla="val 1896" name="adj"/>
            </a:avLst>
          </a:prstGeom>
          <a:solidFill>
            <a:srgbClr val="20251F"/>
          </a:solidFill>
          <a:ln cap="flat" cmpd="sng" w="12700">
            <a:solidFill>
              <a:srgbClr val="20251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2" name="Google Shape;342;p11"/>
          <p:cNvSpPr/>
          <p:nvPr/>
        </p:nvSpPr>
        <p:spPr>
          <a:xfrm>
            <a:off x="749808" y="213969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900"/>
              <a:buFont typeface="Calibri"/>
              <a:buNone/>
            </a:pPr>
            <a:r>
              <a:rPr b="1" i="0" lang="en-US" spc="210" sz="110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SH1106 OLED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786384" y="2660904"/>
            <a:ext cx="3163824" cy="2194560"/>
          </a:xfrm>
          <a:prstGeom prst="roundRect">
            <a:avLst>
              <a:gd fmla="val 2500" name="adj"/>
            </a:avLst>
          </a:prstGeom>
          <a:solidFill>
            <a:srgbClr val="0B120D"/>
          </a:solidFill>
          <a:ln cap="flat" cmpd="sng" w="17775">
            <a:solidFill>
              <a:srgbClr val="C8D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4" name="Google Shape;344;p11"/>
          <p:cNvSpPr/>
          <p:nvPr/>
        </p:nvSpPr>
        <p:spPr>
          <a:xfrm>
            <a:off x="1005840" y="290779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SMART SOIL MONITOR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1115568" y="3456432"/>
            <a:ext cx="2423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urier New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TEMP   27.7°C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urier New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MOIST	 41%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urier New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pH     9.29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932688" y="5175504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870"/>
              <a:buFont typeface="Calibri"/>
              <a:buNone/>
            </a:pPr>
            <a:r>
              <a:rPr b="1" i="0" lang="en-US" spc="180" sz="107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LOCAL DISPLAY · NO APP REQUIRED</a:t>
            </a:r>
            <a:endParaRPr b="0" i="0" sz="1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736592" y="1828800"/>
            <a:ext cx="6903720" cy="3977640"/>
          </a:xfrm>
          <a:prstGeom prst="roundRect">
            <a:avLst>
              <a:gd fmla="val 1839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8" name="Google Shape;348;p11"/>
          <p:cNvSpPr/>
          <p:nvPr/>
        </p:nvSpPr>
        <p:spPr>
          <a:xfrm>
            <a:off x="5065776" y="2139696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0" lang="en-US" spc="220" sz="11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BROWSER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5065775" y="2505450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800"/>
              <a:buFont typeface="Georgia"/>
              <a:buNone/>
            </a:pPr>
            <a:r>
              <a:rPr b="1" i="0" lang="en-US" sz="20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SMART_SOIL_MONITOR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5065776" y="2958078"/>
            <a:ext cx="563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60"/>
              <a:buFont typeface="Calibri"/>
              <a:buNone/>
            </a:pPr>
            <a:r>
              <a:rPr b="0" i="0" lang="en-US" sz="126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Join the ESP32 access point from Android, iOS or Windows and open the captive portal.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5065776" y="3547872"/>
            <a:ext cx="1783080" cy="1225296"/>
          </a:xfrm>
          <a:prstGeom prst="roundRect">
            <a:avLst>
              <a:gd fmla="val 597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52" name="Google Shape;352;p11"/>
          <p:cNvSpPr/>
          <p:nvPr/>
        </p:nvSpPr>
        <p:spPr>
          <a:xfrm>
            <a:off x="5212080" y="3776472"/>
            <a:ext cx="1490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924"/>
              </a:buClr>
              <a:buSzPts val="2000"/>
              <a:buFont typeface="Georgia"/>
              <a:buNone/>
            </a:pPr>
            <a:r>
              <a:rPr b="1" i="0" lang="en-US" sz="2200" u="none" cap="none" strike="noStrike">
                <a:solidFill>
                  <a:srgbClr val="1A3924"/>
                </a:solidFill>
                <a:latin typeface="Georgia"/>
                <a:ea typeface="Georgia"/>
                <a:cs typeface="Georgia"/>
                <a:sym typeface="Georgia"/>
              </a:rPr>
              <a:t>27.7 °C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5212080" y="4270248"/>
            <a:ext cx="1490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40"/>
              <a:buFont typeface="Calibri"/>
              <a:buNone/>
            </a:pPr>
            <a:r>
              <a:rPr b="1" i="0" lang="en-US" spc="150" sz="114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7123176" y="3547872"/>
            <a:ext cx="1783080" cy="1225296"/>
          </a:xfrm>
          <a:prstGeom prst="roundRect">
            <a:avLst>
              <a:gd fmla="val 597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55" name="Google Shape;355;p11"/>
          <p:cNvSpPr/>
          <p:nvPr/>
        </p:nvSpPr>
        <p:spPr>
          <a:xfrm>
            <a:off x="7269480" y="3776472"/>
            <a:ext cx="1490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924"/>
              </a:buClr>
              <a:buSzPts val="2000"/>
              <a:buFont typeface="Georgia"/>
              <a:buNone/>
            </a:pPr>
            <a:r>
              <a:rPr b="1" i="0" lang="en-US" sz="2200" u="none" cap="none" strike="noStrike">
                <a:solidFill>
                  <a:srgbClr val="1A3924"/>
                </a:solidFill>
                <a:latin typeface="Georgia"/>
                <a:ea typeface="Georgia"/>
                <a:cs typeface="Georgia"/>
                <a:sym typeface="Georgia"/>
              </a:rPr>
              <a:t>41 %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7269480" y="4270248"/>
            <a:ext cx="1490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40"/>
              <a:buFont typeface="Calibri"/>
              <a:buNone/>
            </a:pPr>
            <a:r>
              <a:rPr b="1" i="0" lang="en-US" spc="150" sz="94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MOISTURE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9180576" y="3547872"/>
            <a:ext cx="1783080" cy="1225296"/>
          </a:xfrm>
          <a:prstGeom prst="roundRect">
            <a:avLst>
              <a:gd fmla="val 597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58" name="Google Shape;358;p11"/>
          <p:cNvSpPr/>
          <p:nvPr/>
        </p:nvSpPr>
        <p:spPr>
          <a:xfrm>
            <a:off x="9326880" y="3776472"/>
            <a:ext cx="1490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924"/>
              </a:buClr>
              <a:buSzPts val="2000"/>
              <a:buFont typeface="Georgia"/>
              <a:buNone/>
            </a:pPr>
            <a:r>
              <a:rPr b="1" i="0" lang="en-US" sz="2200" u="none" cap="none" strike="noStrike">
                <a:solidFill>
                  <a:srgbClr val="1A3924"/>
                </a:solidFill>
                <a:latin typeface="Georgia"/>
                <a:ea typeface="Georgia"/>
                <a:cs typeface="Georgia"/>
                <a:sym typeface="Georgia"/>
              </a:rPr>
              <a:t>9.29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9326880" y="4270248"/>
            <a:ext cx="1490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40"/>
              <a:buFont typeface="Calibri"/>
              <a:buNone/>
            </a:pPr>
            <a:r>
              <a:rPr b="1" i="0" lang="en-US" spc="150" sz="94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5065776" y="5129784"/>
            <a:ext cx="1426464" cy="310896"/>
          </a:xfrm>
          <a:prstGeom prst="roundRect">
            <a:avLst>
              <a:gd fmla="val 50000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61" name="Google Shape;361;p11"/>
          <p:cNvSpPr/>
          <p:nvPr/>
        </p:nvSpPr>
        <p:spPr>
          <a:xfrm>
            <a:off x="5065776" y="5198364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24-HOUR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6647688" y="5129784"/>
            <a:ext cx="1481328" cy="310896"/>
          </a:xfrm>
          <a:prstGeom prst="roundRect">
            <a:avLst>
              <a:gd fmla="val 50000" name="adj"/>
            </a:avLst>
          </a:prstGeom>
          <a:solidFill>
            <a:srgbClr val="2B5E2C"/>
          </a:solidFill>
          <a:ln cap="flat" cmpd="sng" w="12700">
            <a:solidFill>
              <a:srgbClr val="2B5E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63" name="Google Shape;363;p11"/>
          <p:cNvSpPr/>
          <p:nvPr/>
        </p:nvSpPr>
        <p:spPr>
          <a:xfrm>
            <a:off x="6647688" y="5198364"/>
            <a:ext cx="14813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5-SECOND BUFFER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8275320" y="5129784"/>
            <a:ext cx="1207008" cy="310896"/>
          </a:xfrm>
          <a:prstGeom prst="roundRect">
            <a:avLst>
              <a:gd fmla="val 50000" name="adj"/>
            </a:avLst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65" name="Google Shape;365;p11"/>
          <p:cNvSpPr/>
          <p:nvPr/>
        </p:nvSpPr>
        <p:spPr>
          <a:xfrm>
            <a:off x="8275320" y="5198364"/>
            <a:ext cx="12070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INTERNET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DATA INTERPRETATION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The firmware explains the measurement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384055" y="1152145"/>
            <a:ext cx="10698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Calibration anchors raw ADC values to known conditions, then the classification layer makes the result understandable at a glance.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438912" y="1847088"/>
            <a:ext cx="3675888" cy="3840480"/>
          </a:xfrm>
          <a:prstGeom prst="roundRect">
            <a:avLst>
              <a:gd fmla="val 1990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731520" y="2157984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0" lang="en-US" spc="21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MOISTURE CALIBRATION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731520" y="26334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AIR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731520" y="283464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300"/>
              <a:buFont typeface="Georgia"/>
              <a:buNone/>
            </a:pPr>
            <a:r>
              <a:rPr b="1" i="0" lang="en-US" sz="23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2469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938528" y="2633472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WATER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1938528" y="28346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300"/>
              <a:buFont typeface="Georgia"/>
              <a:buNone/>
            </a:pPr>
            <a:r>
              <a:rPr b="1" i="0" lang="en-US" sz="23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752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12"/>
          <p:cNvCxnSpPr/>
          <p:nvPr/>
        </p:nvCxnSpPr>
        <p:spPr>
          <a:xfrm>
            <a:off x="731520" y="3346704"/>
            <a:ext cx="2761488" cy="0"/>
          </a:xfrm>
          <a:prstGeom prst="straightConnector1">
            <a:avLst/>
          </a:prstGeom>
          <a:noFill/>
          <a:ln cap="flat" cmpd="sng" w="15225">
            <a:solidFill>
              <a:srgbClr val="CBD6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2"/>
          <p:cNvSpPr/>
          <p:nvPr/>
        </p:nvSpPr>
        <p:spPr>
          <a:xfrm>
            <a:off x="731520" y="368503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924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A3924"/>
                </a:solidFill>
                <a:latin typeface="Georgia"/>
                <a:ea typeface="Georgia"/>
                <a:cs typeface="Georgia"/>
                <a:sym typeface="Georgia"/>
              </a:rPr>
              <a:t>41 %  →  GOOD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731520" y="4306824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The same mapping is applied continuously to the live ADC reading.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261104" y="1847088"/>
            <a:ext cx="3675888" cy="3840480"/>
          </a:xfrm>
          <a:prstGeom prst="roundRect">
            <a:avLst>
              <a:gd fmla="val 1990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4553712" y="215798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900"/>
              <a:buFont typeface="Calibri"/>
              <a:buNone/>
            </a:pPr>
            <a:r>
              <a:rPr b="1" i="0" lang="en-US" spc="210" sz="90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pH CALIBRATION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4553712" y="263347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pH 7.0 ADC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4553712" y="283464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2975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5806440" y="263347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pH 2.5 ADC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5806440" y="283464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3790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12"/>
          <p:cNvCxnSpPr/>
          <p:nvPr/>
        </p:nvCxnSpPr>
        <p:spPr>
          <a:xfrm>
            <a:off x="4553712" y="3346704"/>
            <a:ext cx="2761488" cy="0"/>
          </a:xfrm>
          <a:prstGeom prst="straightConnector1">
            <a:avLst/>
          </a:prstGeom>
          <a:noFill/>
          <a:ln cap="flat" cmpd="sng" w="15225">
            <a:solidFill>
              <a:srgbClr val="5576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12"/>
          <p:cNvSpPr/>
          <p:nvPr/>
        </p:nvSpPr>
        <p:spPr>
          <a:xfrm>
            <a:off x="4553712" y="3685032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96BB61"/>
                </a:solidFill>
                <a:latin typeface="Georgia"/>
                <a:ea typeface="Georgia"/>
                <a:cs typeface="Georgia"/>
                <a:sym typeface="Georgia"/>
              </a:rPr>
              <a:t>9.29  →  ALKALINE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4553712" y="4306824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Twenty samples are averaged before the pH value is updated.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8083296" y="1847088"/>
            <a:ext cx="3575304" cy="3840480"/>
          </a:xfrm>
          <a:prstGeom prst="roundRect">
            <a:avLst>
              <a:gd fmla="val 2046" name="adj"/>
            </a:avLst>
          </a:prstGeom>
          <a:solidFill>
            <a:srgbClr val="D7E2CD"/>
          </a:solidFill>
          <a:ln cap="flat" cmpd="sng" w="12700">
            <a:solidFill>
              <a:srgbClr val="D7E2C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6" name="Google Shape;396;p12"/>
          <p:cNvSpPr/>
          <p:nvPr/>
        </p:nvSpPr>
        <p:spPr>
          <a:xfrm>
            <a:off x="8375904" y="2157984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830"/>
              <a:buFont typeface="Calibri"/>
              <a:buNone/>
            </a:pPr>
            <a:r>
              <a:rPr b="1" i="0" lang="en-US" spc="150" sz="123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PLAIN-LANGUAGE CLASSIFICATION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8375904" y="2633472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z="11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MOISTURE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9464040" y="2633472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&lt; 30%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10369296" y="2633472"/>
            <a:ext cx="987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5E2C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2B5E2C"/>
                </a:solidFill>
                <a:latin typeface="Calibri"/>
                <a:ea typeface="Calibri"/>
                <a:cs typeface="Calibri"/>
                <a:sym typeface="Calibri"/>
              </a:rPr>
              <a:t>DRY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8375904" y="3054096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z="11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MOISTURE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9464040" y="3054096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30–70%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10369296" y="3054096"/>
            <a:ext cx="987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5E2C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2B5E2C"/>
                </a:solidFill>
                <a:latin typeface="Calibri"/>
                <a:ea typeface="Calibri"/>
                <a:cs typeface="Calibri"/>
                <a:sym typeface="Calibri"/>
              </a:rPr>
              <a:t>GOOD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8375904" y="3474720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z="11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MOISTURE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9464040" y="3474720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≥ 70%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10369296" y="3474720"/>
            <a:ext cx="987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5E2C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2B5E2C"/>
                </a:solidFill>
                <a:latin typeface="Calibri"/>
                <a:ea typeface="Calibri"/>
                <a:cs typeface="Calibri"/>
                <a:sym typeface="Calibri"/>
              </a:rPr>
              <a:t>WET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8375904" y="3895344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z="11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9464040" y="3895344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&lt; 6.5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10369296" y="3895344"/>
            <a:ext cx="987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5E2C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2B5E2C"/>
                </a:solidFill>
                <a:latin typeface="Calibri"/>
                <a:ea typeface="Calibri"/>
                <a:cs typeface="Calibri"/>
                <a:sym typeface="Calibri"/>
              </a:rPr>
              <a:t>ACIDIC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8375904" y="4315968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z="11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9464040" y="4315968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6.5–7.5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10369296" y="4315968"/>
            <a:ext cx="987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5E2C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2B5E2C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8375904" y="4736592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z="11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pH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9464040" y="4736592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&gt; 7.5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10369296" y="4736592"/>
            <a:ext cx="987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5E2C"/>
              </a:buClr>
              <a:buSzPts val="800"/>
              <a:buFont typeface="Calibri"/>
              <a:buNone/>
            </a:pPr>
            <a:r>
              <a:rPr b="1" i="0" lang="en-US" sz="1200" u="none" cap="none" strike="noStrike">
                <a:solidFill>
                  <a:srgbClr val="2B5E2C"/>
                </a:solidFill>
                <a:latin typeface="Calibri"/>
                <a:ea typeface="Calibri"/>
                <a:cs typeface="Calibri"/>
                <a:sym typeface="Calibri"/>
              </a:rPr>
              <a:t>ALKALINE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8375904" y="5239512"/>
            <a:ext cx="1554480" cy="310896"/>
          </a:xfrm>
          <a:prstGeom prst="roundRect">
            <a:avLst>
              <a:gd fmla="val 50000" name="adj"/>
            </a:avLst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6" name="Google Shape;416;p12"/>
          <p:cNvSpPr/>
          <p:nvPr/>
        </p:nvSpPr>
        <p:spPr>
          <a:xfrm>
            <a:off x="8375904" y="530809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ACTIONABLE STATUS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Bench testing shows the complete signal chain working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411480" y="11887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The final build produced stable live values, calibrated classifications and a much faster acquisition loop.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429768" y="1856232"/>
            <a:ext cx="2578608" cy="1627632"/>
          </a:xfrm>
          <a:prstGeom prst="roundRect">
            <a:avLst>
              <a:gd fmla="val 4494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29" name="Google Shape;429;p13"/>
          <p:cNvSpPr/>
          <p:nvPr/>
        </p:nvSpPr>
        <p:spPr>
          <a:xfrm>
            <a:off x="630936" y="2148840"/>
            <a:ext cx="21762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200"/>
              <a:buFont typeface="Georgia"/>
              <a:buNone/>
            </a:pPr>
            <a:r>
              <a:rPr b="1" i="0" lang="en-US" sz="25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27.7 °C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630936" y="2660904"/>
            <a:ext cx="2176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750"/>
              <a:buFont typeface="Calibri"/>
              <a:buNone/>
            </a:pPr>
            <a:r>
              <a:rPr b="1" i="0" lang="en-US" spc="160" sz="105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649224" y="2898648"/>
            <a:ext cx="21396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860"/>
              <a:buFont typeface="Calibri"/>
              <a:buNone/>
            </a:pPr>
            <a:r>
              <a:rPr b="0" i="0" lang="en-US" sz="116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Stable at 0.25 °C resolution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3264408" y="1856232"/>
            <a:ext cx="2578608" cy="1627632"/>
          </a:xfrm>
          <a:prstGeom prst="roundRect">
            <a:avLst>
              <a:gd fmla="val 4494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33" name="Google Shape;433;p13"/>
          <p:cNvSpPr/>
          <p:nvPr/>
        </p:nvSpPr>
        <p:spPr>
          <a:xfrm>
            <a:off x="3465576" y="2148840"/>
            <a:ext cx="21762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200"/>
              <a:buFont typeface="Georgia"/>
              <a:buNone/>
            </a:pPr>
            <a:r>
              <a:rPr b="1" i="0" lang="en-US" sz="25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41 %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3465576" y="2660904"/>
            <a:ext cx="2176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750"/>
              <a:buFont typeface="Calibri"/>
              <a:buNone/>
            </a:pPr>
            <a:r>
              <a:rPr b="1" i="0" lang="en-US" spc="160" sz="105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MOISTURE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3483864" y="2898648"/>
            <a:ext cx="21396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860"/>
              <a:buFont typeface="Calibri"/>
              <a:buNone/>
            </a:pPr>
            <a:r>
              <a:rPr b="0" i="0" lang="en-US" sz="116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Classified “Good” from calibrated endpoints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6099048" y="1856232"/>
            <a:ext cx="2578608" cy="1627632"/>
          </a:xfrm>
          <a:prstGeom prst="roundRect">
            <a:avLst>
              <a:gd fmla="val 4494" name="adj"/>
            </a:avLst>
          </a:prstGeom>
          <a:solidFill>
            <a:srgbClr val="D7E2CD"/>
          </a:solidFill>
          <a:ln cap="flat" cmpd="sng" w="12700">
            <a:solidFill>
              <a:srgbClr val="D7E2C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37" name="Google Shape;437;p13"/>
          <p:cNvSpPr/>
          <p:nvPr/>
        </p:nvSpPr>
        <p:spPr>
          <a:xfrm>
            <a:off x="6300216" y="2148840"/>
            <a:ext cx="21762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200"/>
              <a:buFont typeface="Georgia"/>
              <a:buNone/>
            </a:pPr>
            <a:r>
              <a:rPr b="1" i="0" lang="en-US" sz="25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9.29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6300216" y="2660904"/>
            <a:ext cx="2176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750"/>
              <a:buFont typeface="Calibri"/>
              <a:buNone/>
            </a:pPr>
            <a:r>
              <a:rPr b="1" i="0" lang="en-US" spc="160" sz="105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SOIL pH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6318504" y="2898648"/>
            <a:ext cx="21396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860"/>
              <a:buFont typeface="Calibri"/>
              <a:buNone/>
            </a:pPr>
            <a:r>
              <a:rPr b="0" i="0" lang="en-US" sz="116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Classified “Alkaline” from pH 7 and 2.5 points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8933688" y="1856232"/>
            <a:ext cx="2578608" cy="1627632"/>
          </a:xfrm>
          <a:prstGeom prst="roundRect">
            <a:avLst>
              <a:gd fmla="val 4494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41" name="Google Shape;441;p13"/>
          <p:cNvSpPr/>
          <p:nvPr/>
        </p:nvSpPr>
        <p:spPr>
          <a:xfrm>
            <a:off x="9134856" y="2148840"/>
            <a:ext cx="21762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187 ms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9134856" y="2660904"/>
            <a:ext cx="2176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750"/>
              <a:buFont typeface="Calibri"/>
              <a:buNone/>
            </a:pPr>
            <a:r>
              <a:rPr b="1" i="0" lang="en-US" spc="160" sz="105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CONVERSION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9153144" y="2898648"/>
            <a:ext cx="21396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860"/>
              <a:buFont typeface="Calibri"/>
              <a:buNone/>
            </a:pPr>
            <a:r>
              <a:rPr b="0" i="0" lang="en-US" sz="116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Down from ~750 ms after using 10-bit DS18B20 resolution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429768" y="3767328"/>
            <a:ext cx="640080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xtracted_assets/slide10_img1.jpg" id="445" name="Google Shape;445;p13"/>
          <p:cNvPicPr preferRelativeResize="0"/>
          <p:nvPr/>
        </p:nvPicPr>
        <p:blipFill rotWithShape="1">
          <a:blip r:embed="rId3">
            <a:alphaModFix/>
          </a:blip>
          <a:srcRect b="23936" l="0" r="0" t="23936"/>
          <a:stretch/>
        </p:blipFill>
        <p:spPr>
          <a:xfrm>
            <a:off x="566928" y="3904488"/>
            <a:ext cx="2578608" cy="1792224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3"/>
          <p:cNvSpPr/>
          <p:nvPr/>
        </p:nvSpPr>
        <p:spPr>
          <a:xfrm>
            <a:off x="3410712" y="3968496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830"/>
              <a:buFont typeface="Calibri"/>
              <a:buNone/>
            </a:pPr>
            <a:r>
              <a:rPr b="1" i="0" lang="en-US" spc="200" sz="103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TEST SETUP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3410712" y="4297680"/>
            <a:ext cx="29077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60"/>
              <a:buFont typeface="Calibri"/>
              <a:buNone/>
            </a:pPr>
            <a:r>
              <a:rPr b="0" i="0" lang="en-US" sz="116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Bench testing used the completed sensor assembly and compared the live values produced by the firmware against the intended calibrated behaviour.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3410712" y="5303520"/>
            <a:ext cx="658368" cy="310896"/>
          </a:xfrm>
          <a:prstGeom prst="roundRect">
            <a:avLst>
              <a:gd fmla="val 50000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3410712" y="53721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4224528" y="5303520"/>
            <a:ext cx="1097280" cy="310896"/>
          </a:xfrm>
          <a:prstGeom prst="roundRect">
            <a:avLst>
              <a:gd fmla="val 50000" name="adj"/>
            </a:avLst>
          </a:prstGeom>
          <a:solidFill>
            <a:srgbClr val="2B5E2C"/>
          </a:solidFill>
          <a:ln cap="flat" cmpd="sng" w="12700">
            <a:solidFill>
              <a:srgbClr val="2B5E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4224528" y="537210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CALIBRATED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5477256" y="5303520"/>
            <a:ext cx="859536" cy="310896"/>
          </a:xfrm>
          <a:prstGeom prst="roundRect">
            <a:avLst>
              <a:gd fmla="val 50000" name="adj"/>
            </a:avLst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5477256" y="5372100"/>
            <a:ext cx="8595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7068312" y="3767328"/>
            <a:ext cx="4590300" cy="2057400"/>
          </a:xfrm>
          <a:prstGeom prst="roundRect">
            <a:avLst>
              <a:gd fmla="val 3556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7379208" y="3968496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830"/>
              <a:buFont typeface="Calibri"/>
              <a:buNone/>
            </a:pPr>
            <a:r>
              <a:rPr b="1" i="0" lang="en-US" spc="190" sz="103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WHAT THE RESULT MEANS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7379208" y="4508500"/>
            <a:ext cx="3712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420"/>
              <a:buFont typeface="Georgia"/>
              <a:buNone/>
            </a:pPr>
            <a:r>
              <a:rPr b="1" i="0" lang="en-US" sz="142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The important result is not a single “perfect” number. It is that the complete chain — sensor → conditioning → ESP32 → classification → interface — remains coherent and</a:t>
            </a:r>
            <a:endParaRPr b="1" sz="1420">
              <a:solidFill>
                <a:srgbClr val="1B231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420"/>
              <a:buFont typeface="Georgia"/>
              <a:buNone/>
            </a:pPr>
            <a:r>
              <a:rPr b="1" i="0" lang="en-US" sz="142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usable in operation.</a:t>
            </a:r>
            <a:endParaRPr b="0" i="0" sz="14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4"/>
          <p:cNvSpPr txBox="1"/>
          <p:nvPr/>
        </p:nvSpPr>
        <p:spPr>
          <a:xfrm>
            <a:off x="384048" y="25603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LIVE DASHBOARD</a:t>
            </a:r>
            <a:endParaRPr/>
          </a:p>
        </p:txBody>
      </p:sp>
      <p:sp>
        <p:nvSpPr>
          <p:cNvPr id="465" name="Google Shape;465;p14"/>
          <p:cNvSpPr txBox="1"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The finished system turns sensor readings into usable data</a:t>
            </a:r>
            <a:endParaRPr/>
          </a:p>
        </p:txBody>
      </p:sp>
      <p:sp>
        <p:nvSpPr>
          <p:cNvPr id="466" name="Google Shape;466;p14"/>
          <p:cNvSpPr txBox="1"/>
          <p:nvPr/>
        </p:nvSpPr>
        <p:spPr>
          <a:xfrm>
            <a:off x="411480" y="1188720"/>
            <a:ext cx="10744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The ESP32 dashboard exposes the current state, recent samples and a longer-term trend view for practical decisions.</a:t>
            </a: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384048" y="1828800"/>
            <a:ext cx="7479792" cy="42245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shot 2026-08-03 214111.png" id="468" name="Google Shape;4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347478"/>
            <a:ext cx="7150608" cy="318717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4"/>
          <p:cNvSpPr txBox="1"/>
          <p:nvPr/>
        </p:nvSpPr>
        <p:spPr>
          <a:xfrm>
            <a:off x="566928" y="5852160"/>
            <a:ext cx="7114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EXAMPLE CAPTURE  •  ESP32 LOCAL WEB DASHBOARD</a:t>
            </a: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8065008" y="1828800"/>
            <a:ext cx="3621024" cy="4224528"/>
          </a:xfrm>
          <a:prstGeom prst="roundRect">
            <a:avLst>
              <a:gd fmla="val 16667" name="adj"/>
            </a:avLst>
          </a:prstGeom>
          <a:solidFill>
            <a:srgbClr val="E5ED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 txBox="1"/>
          <p:nvPr/>
        </p:nvSpPr>
        <p:spPr>
          <a:xfrm>
            <a:off x="8357616" y="2121408"/>
            <a:ext cx="25602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DATA APPLICATIONS</a:t>
            </a:r>
            <a:endParaRPr sz="1500"/>
          </a:p>
        </p:txBody>
      </p:sp>
      <p:sp>
        <p:nvSpPr>
          <p:cNvPr id="472" name="Google Shape;472;p14"/>
          <p:cNvSpPr/>
          <p:nvPr/>
        </p:nvSpPr>
        <p:spPr>
          <a:xfrm>
            <a:off x="8339327" y="2542032"/>
            <a:ext cx="365760" cy="365760"/>
          </a:xfrm>
          <a:prstGeom prst="roundRect">
            <a:avLst>
              <a:gd fmla="val 16667" name="adj"/>
            </a:avLst>
          </a:prstGeom>
          <a:solidFill>
            <a:srgbClr val="173D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 txBox="1"/>
          <p:nvPr/>
        </p:nvSpPr>
        <p:spPr>
          <a:xfrm>
            <a:off x="8339327" y="2638044"/>
            <a:ext cx="365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/>
          </a:p>
        </p:txBody>
      </p:sp>
      <p:sp>
        <p:nvSpPr>
          <p:cNvPr id="474" name="Google Shape;474;p14"/>
          <p:cNvSpPr txBox="1"/>
          <p:nvPr/>
        </p:nvSpPr>
        <p:spPr>
          <a:xfrm>
            <a:off x="8869680" y="2532888"/>
            <a:ext cx="246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CURRENT STATE</a:t>
            </a:r>
            <a:endParaRPr sz="1500"/>
          </a:p>
        </p:txBody>
      </p:sp>
      <p:sp>
        <p:nvSpPr>
          <p:cNvPr id="475" name="Google Shape;475;p14"/>
          <p:cNvSpPr txBox="1"/>
          <p:nvPr/>
        </p:nvSpPr>
        <p:spPr>
          <a:xfrm>
            <a:off x="8869680" y="2779776"/>
            <a:ext cx="2487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9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24.5 °C · 100% moisture (Wet) · pH 7.87 (Alkaline)</a:t>
            </a:r>
            <a:endParaRPr sz="1500"/>
          </a:p>
        </p:txBody>
      </p:sp>
      <p:sp>
        <p:nvSpPr>
          <p:cNvPr id="476" name="Google Shape;476;p14"/>
          <p:cNvSpPr/>
          <p:nvPr/>
        </p:nvSpPr>
        <p:spPr>
          <a:xfrm>
            <a:off x="8339327" y="3428231"/>
            <a:ext cx="365700" cy="365700"/>
          </a:xfrm>
          <a:prstGeom prst="roundRect">
            <a:avLst>
              <a:gd fmla="val 16667" name="adj"/>
            </a:avLst>
          </a:prstGeom>
          <a:solidFill>
            <a:srgbClr val="173D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 txBox="1"/>
          <p:nvPr/>
        </p:nvSpPr>
        <p:spPr>
          <a:xfrm>
            <a:off x="8339327" y="3524244"/>
            <a:ext cx="365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/>
          </a:p>
        </p:txBody>
      </p:sp>
      <p:sp>
        <p:nvSpPr>
          <p:cNvPr id="478" name="Google Shape;478;p14"/>
          <p:cNvSpPr txBox="1"/>
          <p:nvPr/>
        </p:nvSpPr>
        <p:spPr>
          <a:xfrm>
            <a:off x="8869680" y="3366736"/>
            <a:ext cx="246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SHORT-TERM HISTORY</a:t>
            </a:r>
            <a:endParaRPr sz="1500"/>
          </a:p>
        </p:txBody>
      </p:sp>
      <p:sp>
        <p:nvSpPr>
          <p:cNvPr id="479" name="Google Shape;479;p14"/>
          <p:cNvSpPr txBox="1"/>
          <p:nvPr/>
        </p:nvSpPr>
        <p:spPr>
          <a:xfrm>
            <a:off x="8869680" y="3613624"/>
            <a:ext cx="2487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9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The last 20 readings expose stability and variation before a decision is made.</a:t>
            </a:r>
            <a:endParaRPr sz="1500"/>
          </a:p>
        </p:txBody>
      </p:sp>
      <p:sp>
        <p:nvSpPr>
          <p:cNvPr id="480" name="Google Shape;480;p14"/>
          <p:cNvSpPr/>
          <p:nvPr/>
        </p:nvSpPr>
        <p:spPr>
          <a:xfrm>
            <a:off x="8339327" y="4296982"/>
            <a:ext cx="365700" cy="365700"/>
          </a:xfrm>
          <a:prstGeom prst="roundRect">
            <a:avLst>
              <a:gd fmla="val 16667" name="adj"/>
            </a:avLst>
          </a:prstGeom>
          <a:solidFill>
            <a:srgbClr val="C778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 txBox="1"/>
          <p:nvPr/>
        </p:nvSpPr>
        <p:spPr>
          <a:xfrm>
            <a:off x="8339327" y="4427895"/>
            <a:ext cx="365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/>
          </a:p>
        </p:txBody>
      </p:sp>
      <p:sp>
        <p:nvSpPr>
          <p:cNvPr id="482" name="Google Shape;482;p14"/>
          <p:cNvSpPr txBox="1"/>
          <p:nvPr/>
        </p:nvSpPr>
        <p:spPr>
          <a:xfrm>
            <a:off x="8869680" y="4218036"/>
            <a:ext cx="246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TREND + DECISION</a:t>
            </a:r>
            <a:endParaRPr sz="1500"/>
          </a:p>
        </p:txBody>
      </p:sp>
      <p:sp>
        <p:nvSpPr>
          <p:cNvPr id="483" name="Google Shape;483;p14"/>
          <p:cNvSpPr txBox="1"/>
          <p:nvPr/>
        </p:nvSpPr>
        <p:spPr>
          <a:xfrm>
            <a:off x="8869680" y="4430023"/>
            <a:ext cx="24873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9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The 24-hour buffer can reveal drying, pH movement or temperature changes over time.</a:t>
            </a:r>
            <a:endParaRPr sz="1500"/>
          </a:p>
        </p:txBody>
      </p:sp>
      <p:sp>
        <p:nvSpPr>
          <p:cNvPr id="484" name="Google Shape;484;p14"/>
          <p:cNvSpPr/>
          <p:nvPr/>
        </p:nvSpPr>
        <p:spPr>
          <a:xfrm>
            <a:off x="8339327" y="5203913"/>
            <a:ext cx="914400" cy="310800"/>
          </a:xfrm>
          <a:prstGeom prst="roundRect">
            <a:avLst>
              <a:gd fmla="val 16667" name="adj"/>
            </a:avLst>
          </a:prstGeom>
          <a:solidFill>
            <a:srgbClr val="173D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8339327" y="5272493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/>
          </a:p>
        </p:txBody>
      </p:sp>
      <p:sp>
        <p:nvSpPr>
          <p:cNvPr id="486" name="Google Shape;486;p14"/>
          <p:cNvSpPr/>
          <p:nvPr/>
        </p:nvSpPr>
        <p:spPr>
          <a:xfrm>
            <a:off x="9372600" y="5203913"/>
            <a:ext cx="1152000" cy="310800"/>
          </a:xfrm>
          <a:prstGeom prst="roundRect">
            <a:avLst>
              <a:gd fmla="val 16667" name="adj"/>
            </a:avLst>
          </a:prstGeom>
          <a:solidFill>
            <a:srgbClr val="C778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 txBox="1"/>
          <p:nvPr/>
        </p:nvSpPr>
        <p:spPr>
          <a:xfrm>
            <a:off x="9372600" y="5289944"/>
            <a:ext cx="115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OFFLINE</a:t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10643616" y="5203913"/>
            <a:ext cx="822900" cy="310800"/>
          </a:xfrm>
          <a:prstGeom prst="roundRect">
            <a:avLst>
              <a:gd fmla="val 16667" name="adj"/>
            </a:avLst>
          </a:prstGeom>
          <a:solidFill>
            <a:srgbClr val="173D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10643616" y="5272493"/>
            <a:ext cx="82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endParaRPr/>
          </a:p>
        </p:txBody>
      </p:sp>
      <p:sp>
        <p:nvSpPr>
          <p:cNvPr id="490" name="Google Shape;490;p14"/>
          <p:cNvSpPr txBox="1"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/>
          </a:p>
        </p:txBody>
      </p:sp>
      <p:sp>
        <p:nvSpPr>
          <p:cNvPr id="491" name="Google Shape;491;p14"/>
          <p:cNvSpPr txBox="1"/>
          <p:nvPr/>
        </p:nvSpPr>
        <p:spPr>
          <a:xfrm>
            <a:off x="7498079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/>
          </a:p>
        </p:txBody>
      </p:sp>
      <p:sp>
        <p:nvSpPr>
          <p:cNvPr id="492" name="Google Shape;492;p14"/>
          <p:cNvSpPr txBox="1"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5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Where the finished system can be used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411480" y="11887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The current build is especially suited to situations where local measurements and immediate interpretation are more useful than a remote infrastructure stack.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438912" y="1847088"/>
            <a:ext cx="5248656" cy="1389888"/>
          </a:xfrm>
          <a:prstGeom prst="roundRect">
            <a:avLst>
              <a:gd fmla="val 5263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3" name="Google Shape;503;p15"/>
          <p:cNvSpPr/>
          <p:nvPr/>
        </p:nvSpPr>
        <p:spPr>
          <a:xfrm>
            <a:off x="694944" y="2121408"/>
            <a:ext cx="310896" cy="310896"/>
          </a:xfrm>
          <a:prstGeom prst="ellipse">
            <a:avLst/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4" name="Google Shape;504;p15"/>
          <p:cNvSpPr/>
          <p:nvPr/>
        </p:nvSpPr>
        <p:spPr>
          <a:xfrm>
            <a:off x="694944" y="2139696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1188720" y="204825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Irrigation decisions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1188720" y="2423160"/>
            <a:ext cx="39867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40"/>
              <a:buFont typeface="Calibri"/>
              <a:buNone/>
            </a:pPr>
            <a:r>
              <a:rPr b="0" i="0" lang="en-US" sz="124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Use live moisture status to support when-to-water decisions rather than relying only on visual judgement.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6099048" y="1847088"/>
            <a:ext cx="5248656" cy="1389888"/>
          </a:xfrm>
          <a:prstGeom prst="roundRect">
            <a:avLst>
              <a:gd fmla="val 5263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8" name="Google Shape;508;p15"/>
          <p:cNvSpPr/>
          <p:nvPr/>
        </p:nvSpPr>
        <p:spPr>
          <a:xfrm>
            <a:off x="6355080" y="2121408"/>
            <a:ext cx="310896" cy="310896"/>
          </a:xfrm>
          <a:prstGeom prst="ellipse">
            <a:avLst/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5"/>
          <p:cNvSpPr/>
          <p:nvPr/>
        </p:nvSpPr>
        <p:spPr>
          <a:xfrm>
            <a:off x="6355080" y="2139696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6848856" y="204825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Crop management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6848856" y="2423160"/>
            <a:ext cx="39867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40"/>
              <a:buFont typeface="Calibri"/>
              <a:buNone/>
            </a:pPr>
            <a:r>
              <a:rPr b="0" i="0" lang="en-US" sz="124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Track temperature and pH alongside moisture to build a more complete picture of the root-zone environment.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438912" y="3566160"/>
            <a:ext cx="5248656" cy="1389888"/>
          </a:xfrm>
          <a:prstGeom prst="roundRect">
            <a:avLst>
              <a:gd fmla="val 5263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3" name="Google Shape;513;p15"/>
          <p:cNvSpPr/>
          <p:nvPr/>
        </p:nvSpPr>
        <p:spPr>
          <a:xfrm>
            <a:off x="694944" y="3840480"/>
            <a:ext cx="310896" cy="310896"/>
          </a:xfrm>
          <a:prstGeom prst="ellipse">
            <a:avLst/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694944" y="3858768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1188720" y="376732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Offline field monitoring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1188720" y="4142232"/>
            <a:ext cx="39867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040"/>
              <a:buFont typeface="Calibri"/>
              <a:buNone/>
            </a:pPr>
            <a:r>
              <a:rPr b="0" i="0" lang="en-US" sz="124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Operate from the ESP32’s local display and Wi-Fi soft AP without a router, internet connection or phone app.</a:t>
            </a:r>
            <a:endParaRPr b="0" i="0" sz="1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6099048" y="3566160"/>
            <a:ext cx="5248656" cy="1389888"/>
          </a:xfrm>
          <a:prstGeom prst="roundRect">
            <a:avLst>
              <a:gd fmla="val 5263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18" name="Google Shape;518;p15"/>
          <p:cNvSpPr/>
          <p:nvPr/>
        </p:nvSpPr>
        <p:spPr>
          <a:xfrm>
            <a:off x="6355080" y="3840480"/>
            <a:ext cx="310896" cy="31089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6355080" y="3858768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6848856" y="376732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Prototype platform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6848856" y="4142232"/>
            <a:ext cx="39867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1040"/>
              <a:buFont typeface="Calibri"/>
              <a:buNone/>
            </a:pPr>
            <a:r>
              <a:rPr b="0" i="0" lang="en-US" sz="114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Extend the same architecture with automatic irrigation, more sensor nodes, longer-term logging or additional soil measurements.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475488" y="5431536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850"/>
              <a:buFont typeface="Calibri"/>
              <a:buNone/>
            </a:pPr>
            <a:r>
              <a:rPr b="1" i="0" lang="en-US" spc="200" sz="85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NEXT EXTENSIONS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1874520" y="5340096"/>
            <a:ext cx="1353312" cy="310896"/>
          </a:xfrm>
          <a:prstGeom prst="roundRect">
            <a:avLst>
              <a:gd fmla="val 50000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5"/>
          <p:cNvSpPr/>
          <p:nvPr/>
        </p:nvSpPr>
        <p:spPr>
          <a:xfrm>
            <a:off x="1874520" y="5408676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 IRRIGATION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5"/>
          <p:cNvSpPr/>
          <p:nvPr/>
        </p:nvSpPr>
        <p:spPr>
          <a:xfrm>
            <a:off x="3392424" y="5340096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2B5E2C"/>
          </a:solidFill>
          <a:ln cap="flat" cmpd="sng" w="12700">
            <a:solidFill>
              <a:srgbClr val="2B5E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3392424" y="5408676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SOLAR + BATTERY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4882896" y="5340096"/>
            <a:ext cx="1261872" cy="310896"/>
          </a:xfrm>
          <a:prstGeom prst="roundRect">
            <a:avLst>
              <a:gd fmla="val 50000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4882896" y="5408676"/>
            <a:ext cx="12618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ESP-NOW / LORA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6309360" y="5340096"/>
            <a:ext cx="1554480" cy="310896"/>
          </a:xfrm>
          <a:prstGeom prst="roundRect">
            <a:avLst>
              <a:gd fmla="val 50000" name="adj"/>
            </a:avLst>
          </a:prstGeom>
          <a:solidFill>
            <a:srgbClr val="C77819"/>
          </a:solidFill>
          <a:ln cap="flat" cmpd="sng" w="12700">
            <a:solidFill>
              <a:srgbClr val="C7781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6309360" y="5408676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 / CLOUD LOGGING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8037576" y="5340096"/>
            <a:ext cx="1170432" cy="310896"/>
          </a:xfrm>
          <a:prstGeom prst="roundRect">
            <a:avLst>
              <a:gd fmla="val 50000" name="adj"/>
            </a:avLst>
          </a:prstGeom>
          <a:solidFill>
            <a:srgbClr val="2B5E2C"/>
          </a:solidFill>
          <a:ln cap="flat" cmpd="sng" w="12700">
            <a:solidFill>
              <a:srgbClr val="2B5E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8037576" y="5408676"/>
            <a:ext cx="11704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NPK SENSING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9372600" y="5340096"/>
            <a:ext cx="1225296" cy="310896"/>
          </a:xfrm>
          <a:prstGeom prst="roundRect">
            <a:avLst>
              <a:gd fmla="val 50000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9372600" y="5408676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ALERTS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E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6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GITHUB COMPANION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B2318"/>
                </a:solidFill>
                <a:latin typeface="Georgia"/>
                <a:ea typeface="Georgia"/>
                <a:cs typeface="Georgia"/>
                <a:sym typeface="Georgia"/>
              </a:rPr>
              <a:t>A project page should show more than the firmware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411480" y="11887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The code explains how the controller behaves; this deck explains why the hardware, calibration and user interface were built that way.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420624" y="1938528"/>
            <a:ext cx="2578608" cy="2514600"/>
          </a:xfrm>
          <a:prstGeom prst="roundRect">
            <a:avLst>
              <a:gd fmla="val 2909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47" name="Google Shape;547;p16"/>
          <p:cNvSpPr/>
          <p:nvPr/>
        </p:nvSpPr>
        <p:spPr>
          <a:xfrm>
            <a:off x="676656" y="22585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0" lang="en-US" spc="220" sz="11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6"/>
          <p:cNvSpPr/>
          <p:nvPr/>
        </p:nvSpPr>
        <p:spPr>
          <a:xfrm>
            <a:off x="676656" y="2761488"/>
            <a:ext cx="204825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What each sensor does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Why the signal is compatible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Where protection is required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3273552" y="1938528"/>
            <a:ext cx="2578608" cy="2514600"/>
          </a:xfrm>
          <a:prstGeom prst="roundRect">
            <a:avLst>
              <a:gd fmla="val 2909" name="adj"/>
            </a:avLst>
          </a:prstGeom>
          <a:solidFill>
            <a:srgbClr val="1A3924"/>
          </a:solidFill>
          <a:ln cap="flat" cmpd="sng" w="12700">
            <a:solidFill>
              <a:srgbClr val="1A39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50" name="Google Shape;550;p16"/>
          <p:cNvSpPr/>
          <p:nvPr/>
        </p:nvSpPr>
        <p:spPr>
          <a:xfrm>
            <a:off x="3529584" y="22585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900"/>
              <a:buFont typeface="Calibri"/>
              <a:buNone/>
            </a:pPr>
            <a:r>
              <a:rPr b="1" i="0" lang="en-US" spc="220" sz="110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FIRMWARE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3529584" y="2761488"/>
            <a:ext cx="204825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order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Calibration equations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 + buffering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6126480" y="1938528"/>
            <a:ext cx="2578608" cy="2514600"/>
          </a:xfrm>
          <a:prstGeom prst="roundRect">
            <a:avLst>
              <a:gd fmla="val 2909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53" name="Google Shape;553;p16"/>
          <p:cNvSpPr/>
          <p:nvPr/>
        </p:nvSpPr>
        <p:spPr>
          <a:xfrm>
            <a:off x="6382512" y="22585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0" lang="en-US" spc="220" sz="11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6"/>
          <p:cNvSpPr/>
          <p:nvPr/>
        </p:nvSpPr>
        <p:spPr>
          <a:xfrm>
            <a:off x="6382512" y="2761488"/>
            <a:ext cx="204825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Measured values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Conversion-time improvement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Faults that were fixed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8979408" y="1938528"/>
            <a:ext cx="2578608" cy="2514600"/>
          </a:xfrm>
          <a:prstGeom prst="roundRect">
            <a:avLst>
              <a:gd fmla="val 2909" name="adj"/>
            </a:avLst>
          </a:prstGeom>
          <a:solidFill>
            <a:srgbClr val="E8EEE2"/>
          </a:solidFill>
          <a:ln cap="flat" cmpd="sng" w="12700">
            <a:solidFill>
              <a:srgbClr val="E8EEE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56" name="Google Shape;556;p16"/>
          <p:cNvSpPr/>
          <p:nvPr/>
        </p:nvSpPr>
        <p:spPr>
          <a:xfrm>
            <a:off x="9235440" y="22585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819"/>
              </a:buClr>
              <a:buSzPts val="900"/>
              <a:buFont typeface="Calibri"/>
              <a:buNone/>
            </a:pPr>
            <a:r>
              <a:rPr b="1" i="0" lang="en-US" spc="220" sz="1100" u="none" cap="none" strike="noStrike">
                <a:solidFill>
                  <a:srgbClr val="C77819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9235440" y="2761488"/>
            <a:ext cx="204825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How a farmer would use it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What “offline” means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140"/>
              <a:buFont typeface="Calibri"/>
              <a:buNone/>
            </a:pPr>
            <a:r>
              <a:rPr b="0" i="0" lang="en-US" sz="134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How the platform can grow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420624" y="4773168"/>
            <a:ext cx="11018520" cy="960120"/>
          </a:xfrm>
          <a:prstGeom prst="roundRect">
            <a:avLst>
              <a:gd fmla="val 7619" name="adj"/>
            </a:avLst>
          </a:prstGeom>
          <a:solidFill>
            <a:srgbClr val="2B5E2C"/>
          </a:solidFill>
          <a:ln cap="flat" cmpd="sng" w="12700">
            <a:solidFill>
              <a:srgbClr val="2B5E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747988" y="5148025"/>
            <a:ext cx="1869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850"/>
              <a:buFont typeface="Calibri"/>
              <a:buNone/>
            </a:pPr>
            <a:r>
              <a:rPr b="1" i="0" lang="en-US" spc="200" sz="105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REPOSITORY CONTENTS: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2724912" y="5093287"/>
            <a:ext cx="864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uild overview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iring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irmware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alibration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esults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pplications.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2267712" y="532180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910"/>
              <a:buFont typeface="Calibri"/>
              <a:buNone/>
            </a:pPr>
            <a:r>
              <a:t/>
            </a:r>
            <a:endParaRPr b="0" i="0" sz="9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384048" y="6537960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1" i="0" lang="en-US" spc="140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7498080" y="6537960"/>
            <a:ext cx="4297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65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656"/>
                </a:solidFill>
                <a:latin typeface="Calibri"/>
                <a:ea typeface="Calibri"/>
                <a:cs typeface="Calibri"/>
                <a:sym typeface="Calibri"/>
              </a:rPr>
              <a:t>EEG 323  •  Group 2  •  University of Lagos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924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7"/>
          <p:cNvSpPr/>
          <p:nvPr/>
        </p:nvSpPr>
        <p:spPr>
          <a:xfrm>
            <a:off x="384048" y="25603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900"/>
              <a:buFont typeface="Calibri"/>
              <a:buNone/>
            </a:pPr>
            <a:r>
              <a:rPr b="1" i="1" lang="en-US" spc="300" sz="90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11384280" y="25603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900"/>
              <a:buFont typeface="Calibri"/>
              <a:buNone/>
            </a:pPr>
            <a:r>
              <a:rPr b="1" i="0" lang="en-US" spc="200" sz="90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384048" y="53035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system met its core objectives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676656" y="1911096"/>
            <a:ext cx="310896" cy="31089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7"/>
          <p:cNvSpPr/>
          <p:nvPr/>
        </p:nvSpPr>
        <p:spPr>
          <a:xfrm>
            <a:off x="676656" y="1929384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1170426" y="1856225"/>
            <a:ext cx="666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moisture, temperature and pH monitoring in a low-cost embedded build.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676656" y="2670048"/>
            <a:ext cx="310896" cy="31089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7"/>
          <p:cNvSpPr/>
          <p:nvPr/>
        </p:nvSpPr>
        <p:spPr>
          <a:xfrm>
            <a:off x="676656" y="2688336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1170426" y="2615175"/>
            <a:ext cx="6593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Calibrated conversion from raw sensor outputs into interpretable soil status.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676656" y="3429000"/>
            <a:ext cx="310896" cy="31089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7"/>
          <p:cNvSpPr/>
          <p:nvPr/>
        </p:nvSpPr>
        <p:spPr>
          <a:xfrm>
            <a:off x="676656" y="3447288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1170426" y="3374125"/>
            <a:ext cx="6796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 pH voltage matching, dedicated 5 V power and decoupling for stable analogue behaviour.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676656" y="4187952"/>
            <a:ext cx="310896" cy="310896"/>
          </a:xfrm>
          <a:prstGeom prst="ellipse">
            <a:avLst/>
          </a:prstGeom>
          <a:solidFill>
            <a:srgbClr val="96BB61"/>
          </a:solidFill>
          <a:ln cap="flat" cmpd="sng" w="12700">
            <a:solidFill>
              <a:srgbClr val="96BB6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7"/>
          <p:cNvSpPr/>
          <p:nvPr/>
        </p:nvSpPr>
        <p:spPr>
          <a:xfrm>
            <a:off x="676656" y="4206240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31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1170426" y="4133100"/>
            <a:ext cx="6796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OLED + Wi-Fi dashboard with 24-hour history and no router, internet connection or app.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8919975" y="1280175"/>
            <a:ext cx="2514600" cy="4104600"/>
          </a:xfrm>
          <a:prstGeom prst="roundRect">
            <a:avLst>
              <a:gd fmla="val 2909" name="adj"/>
            </a:avLst>
          </a:prstGeom>
          <a:solidFill>
            <a:srgbClr val="203F29"/>
          </a:solidFill>
          <a:ln cap="flat" cmpd="sng" w="12700">
            <a:solidFill>
              <a:srgbClr val="203F2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7"/>
          <p:cNvSpPr/>
          <p:nvPr/>
        </p:nvSpPr>
        <p:spPr>
          <a:xfrm>
            <a:off x="9092692" y="1503172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850"/>
              <a:buFont typeface="Calibri"/>
              <a:buNone/>
            </a:pPr>
            <a:r>
              <a:rPr b="1" i="0" lang="en-US" spc="200" sz="85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CORE BUILD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9262867" y="2583173"/>
            <a:ext cx="182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ESP32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 sensor inputs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local display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local dashboard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676656" y="5321808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C8D7B7"/>
                </a:solidFill>
                <a:latin typeface="Georgia"/>
                <a:ea typeface="Georgia"/>
                <a:cs typeface="Georgia"/>
                <a:sym typeface="Georgia"/>
              </a:rPr>
              <a:t>A compact instrumentation project with a complete sensing → processing → interface pipeline.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7"/>
          <p:cNvSpPr/>
          <p:nvPr/>
        </p:nvSpPr>
        <p:spPr>
          <a:xfrm>
            <a:off x="676656" y="588873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1040"/>
              <a:buFont typeface="Calibri"/>
              <a:buNone/>
            </a:pPr>
            <a:r>
              <a:rPr b="0" i="1" lang="en-US" sz="104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From raw voltage to an actionable soil reading.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924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8"/>
          <p:cNvSpPr/>
          <p:nvPr/>
        </p:nvSpPr>
        <p:spPr>
          <a:xfrm rot="9795561">
            <a:off x="9463929" y="91318"/>
            <a:ext cx="1828912" cy="1828912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96BB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8"/>
          <p:cNvSpPr/>
          <p:nvPr/>
        </p:nvSpPr>
        <p:spPr>
          <a:xfrm rot="-1187376">
            <a:off x="9857322" y="457095"/>
            <a:ext cx="1115584" cy="1115584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3950">
            <a:solidFill>
              <a:srgbClr val="C8D7B7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8"/>
          <p:cNvSpPr/>
          <p:nvPr/>
        </p:nvSpPr>
        <p:spPr>
          <a:xfrm>
            <a:off x="658368" y="2121408"/>
            <a:ext cx="6035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Georgia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8"/>
          <p:cNvSpPr/>
          <p:nvPr/>
        </p:nvSpPr>
        <p:spPr>
          <a:xfrm>
            <a:off x="676656" y="306324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BB6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6BB61"/>
                </a:solidFill>
                <a:latin typeface="Calibri"/>
                <a:ea typeface="Calibri"/>
                <a:cs typeface="Calibri"/>
                <a:sym typeface="Calibri"/>
              </a:rPr>
              <a:t>Soil Monitoring for Smart Agriculture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676656" y="3611880"/>
            <a:ext cx="5760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A practical embedded instrumentation project built to make soil conditions measurable, visible and usable.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9" name="Google Shape;599;p18"/>
          <p:cNvCxnSpPr/>
          <p:nvPr/>
        </p:nvCxnSpPr>
        <p:spPr>
          <a:xfrm>
            <a:off x="676656" y="4608576"/>
            <a:ext cx="5760720" cy="0"/>
          </a:xfrm>
          <a:prstGeom prst="straightConnector1">
            <a:avLst/>
          </a:prstGeom>
          <a:noFill/>
          <a:ln cap="flat" cmpd="sng" w="22850">
            <a:solidFill>
              <a:srgbClr val="96BB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p18"/>
          <p:cNvSpPr/>
          <p:nvPr/>
        </p:nvSpPr>
        <p:spPr>
          <a:xfrm>
            <a:off x="676656" y="4882896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Group 2  ·  EEG 323 Instrumentation and Measurement II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8D7B7"/>
                </a:solidFill>
                <a:latin typeface="Calibri"/>
                <a:ea typeface="Calibri"/>
                <a:cs typeface="Calibri"/>
                <a:sym typeface="Calibri"/>
              </a:rPr>
              <a:t>Department of Electrical and Electronics Engineering · University of Lagos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8641080" y="541324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D7B7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